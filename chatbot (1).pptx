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4" r:id="rId18"/>
    <p:sldId id="272" r:id="rId19"/>
    <p:sldId id="273" r:id="rId20"/>
  </p:sldIdLst>
  <p:sldSz cx="5854700" cy="3295650"/>
  <p:notesSz cx="5854700" cy="32956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0" d="100"/>
          <a:sy n="130" d="100"/>
        </p:scale>
        <p:origin x="1014"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9102" y="1021651"/>
            <a:ext cx="4976495" cy="692086"/>
          </a:xfrm>
          <a:prstGeom prst="rect">
            <a:avLst/>
          </a:prstGeom>
        </p:spPr>
        <p:txBody>
          <a:bodyPr wrap="square" lIns="0" tIns="0" rIns="0" bIns="0">
            <a:spAutoFit/>
          </a:bodyPr>
          <a:lstStyle>
            <a:lvl1pPr>
              <a:defRPr sz="1050" b="1" i="0">
                <a:solidFill>
                  <a:schemeClr val="bg1"/>
                </a:solidFill>
                <a:latin typeface="Cambria"/>
                <a:cs typeface="Cambria"/>
              </a:defRPr>
            </a:lvl1pPr>
          </a:lstStyle>
          <a:p>
            <a:endParaRPr/>
          </a:p>
        </p:txBody>
      </p:sp>
      <p:sp>
        <p:nvSpPr>
          <p:cNvPr id="3" name="Holder 3"/>
          <p:cNvSpPr>
            <a:spLocks noGrp="1"/>
          </p:cNvSpPr>
          <p:nvPr>
            <p:ph type="subTitle" idx="4"/>
          </p:nvPr>
        </p:nvSpPr>
        <p:spPr>
          <a:xfrm>
            <a:off x="878205" y="1845564"/>
            <a:ext cx="4098290" cy="823912"/>
          </a:xfrm>
          <a:prstGeom prst="rect">
            <a:avLst/>
          </a:prstGeom>
        </p:spPr>
        <p:txBody>
          <a:bodyPr wrap="square" lIns="0" tIns="0" rIns="0" bIns="0">
            <a:spAutoFit/>
          </a:bodyPr>
          <a:lstStyle>
            <a:lvl1pPr>
              <a:defRPr sz="8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50" b="1" i="0">
                <a:solidFill>
                  <a:schemeClr val="bg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8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50" b="1" i="0">
                <a:solidFill>
                  <a:schemeClr val="bg1"/>
                </a:solidFill>
                <a:latin typeface="Cambria"/>
                <a:cs typeface="Cambria"/>
              </a:defRPr>
            </a:lvl1pPr>
          </a:lstStyle>
          <a:p>
            <a:endParaRPr/>
          </a:p>
        </p:txBody>
      </p:sp>
      <p:sp>
        <p:nvSpPr>
          <p:cNvPr id="3" name="Holder 3"/>
          <p:cNvSpPr>
            <a:spLocks noGrp="1"/>
          </p:cNvSpPr>
          <p:nvPr>
            <p:ph sz="half" idx="2"/>
          </p:nvPr>
        </p:nvSpPr>
        <p:spPr>
          <a:xfrm>
            <a:off x="292735" y="757999"/>
            <a:ext cx="2546794"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5170" y="757999"/>
            <a:ext cx="2546794" cy="217512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12" y="8"/>
            <a:ext cx="5845810" cy="3288029"/>
          </a:xfrm>
          <a:custGeom>
            <a:avLst/>
            <a:gdLst/>
            <a:ahLst/>
            <a:cxnLst/>
            <a:rect l="l" t="t" r="r" b="b"/>
            <a:pathLst>
              <a:path w="5845810" h="3288029">
                <a:moveTo>
                  <a:pt x="5845240" y="0"/>
                </a:moveTo>
                <a:lnTo>
                  <a:pt x="0" y="0"/>
                </a:lnTo>
                <a:lnTo>
                  <a:pt x="0" y="3287938"/>
                </a:lnTo>
                <a:lnTo>
                  <a:pt x="5845240" y="3287938"/>
                </a:lnTo>
                <a:lnTo>
                  <a:pt x="5845240"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050" b="1" i="0">
                <a:solidFill>
                  <a:schemeClr val="bg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494751" y="8"/>
            <a:ext cx="3352165" cy="3288029"/>
          </a:xfrm>
          <a:custGeom>
            <a:avLst/>
            <a:gdLst/>
            <a:ahLst/>
            <a:cxnLst/>
            <a:rect l="l" t="t" r="r" b="b"/>
            <a:pathLst>
              <a:path w="3352165" h="3288029">
                <a:moveTo>
                  <a:pt x="3352159" y="0"/>
                </a:moveTo>
                <a:lnTo>
                  <a:pt x="0" y="0"/>
                </a:lnTo>
                <a:lnTo>
                  <a:pt x="0" y="3287938"/>
                </a:lnTo>
                <a:lnTo>
                  <a:pt x="3352159" y="3287938"/>
                </a:lnTo>
                <a:lnTo>
                  <a:pt x="3352159" y="0"/>
                </a:lnTo>
                <a:close/>
              </a:path>
            </a:pathLst>
          </a:custGeom>
          <a:solidFill>
            <a:srgbClr val="00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28685" y="642244"/>
            <a:ext cx="1680210" cy="349250"/>
          </a:xfrm>
          <a:prstGeom prst="rect">
            <a:avLst/>
          </a:prstGeom>
        </p:spPr>
        <p:txBody>
          <a:bodyPr wrap="square" lIns="0" tIns="0" rIns="0" bIns="0">
            <a:spAutoFit/>
          </a:bodyPr>
          <a:lstStyle>
            <a:lvl1pPr>
              <a:defRPr sz="1050" b="1" i="0">
                <a:solidFill>
                  <a:schemeClr val="bg1"/>
                </a:solidFill>
                <a:latin typeface="Cambria"/>
                <a:cs typeface="Cambria"/>
              </a:defRPr>
            </a:lvl1pPr>
          </a:lstStyle>
          <a:p>
            <a:endParaRPr/>
          </a:p>
        </p:txBody>
      </p:sp>
      <p:sp>
        <p:nvSpPr>
          <p:cNvPr id="3" name="Holder 3"/>
          <p:cNvSpPr>
            <a:spLocks noGrp="1"/>
          </p:cNvSpPr>
          <p:nvPr>
            <p:ph type="body" idx="1"/>
          </p:nvPr>
        </p:nvSpPr>
        <p:spPr>
          <a:xfrm>
            <a:off x="2998057" y="1045441"/>
            <a:ext cx="2433954" cy="869314"/>
          </a:xfrm>
          <a:prstGeom prst="rect">
            <a:avLst/>
          </a:prstGeom>
        </p:spPr>
        <p:txBody>
          <a:bodyPr wrap="square" lIns="0" tIns="0" rIns="0" bIns="0">
            <a:spAutoFit/>
          </a:bodyPr>
          <a:lstStyle>
            <a:lvl1pPr>
              <a:defRPr sz="8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1990598" y="3064954"/>
            <a:ext cx="1873504" cy="16478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2735" y="3064954"/>
            <a:ext cx="1346581" cy="16478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a:xfrm>
            <a:off x="4215384" y="3064954"/>
            <a:ext cx="1346581" cy="16478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45256" y="397963"/>
            <a:ext cx="3070225" cy="2558415"/>
          </a:xfrm>
          <a:prstGeom prst="rect">
            <a:avLst/>
          </a:prstGeom>
        </p:spPr>
        <p:txBody>
          <a:bodyPr vert="horz" wrap="square" lIns="0" tIns="13335" rIns="0" bIns="0" rtlCol="0">
            <a:spAutoFit/>
          </a:bodyPr>
          <a:lstStyle/>
          <a:p>
            <a:pPr marL="12700" marR="5080" algn="ctr">
              <a:lnSpc>
                <a:spcPct val="100699"/>
              </a:lnSpc>
              <a:spcBef>
                <a:spcPts val="105"/>
              </a:spcBef>
            </a:pPr>
            <a:r>
              <a:rPr sz="2750" b="1" spc="110" dirty="0">
                <a:solidFill>
                  <a:srgbClr val="FFFFFF"/>
                </a:solidFill>
                <a:latin typeface="Times New Roman"/>
                <a:cs typeface="Times New Roman"/>
              </a:rPr>
              <a:t>Enhancing</a:t>
            </a:r>
            <a:r>
              <a:rPr sz="2750" b="1" spc="-35" dirty="0">
                <a:solidFill>
                  <a:srgbClr val="FFFFFF"/>
                </a:solidFill>
                <a:latin typeface="Times New Roman"/>
                <a:cs typeface="Times New Roman"/>
              </a:rPr>
              <a:t> </a:t>
            </a:r>
            <a:r>
              <a:rPr sz="2750" b="1" spc="45" dirty="0">
                <a:solidFill>
                  <a:srgbClr val="FFFFFF"/>
                </a:solidFill>
                <a:latin typeface="Times New Roman"/>
                <a:cs typeface="Times New Roman"/>
              </a:rPr>
              <a:t>User </a:t>
            </a:r>
            <a:r>
              <a:rPr sz="2750" b="1" spc="75" dirty="0">
                <a:solidFill>
                  <a:srgbClr val="FFFFFF"/>
                </a:solidFill>
                <a:latin typeface="Times New Roman"/>
                <a:cs typeface="Times New Roman"/>
              </a:rPr>
              <a:t>Experience: </a:t>
            </a:r>
            <a:r>
              <a:rPr sz="2750" b="1" spc="105" dirty="0">
                <a:solidFill>
                  <a:srgbClr val="FFFFFF"/>
                </a:solidFill>
                <a:latin typeface="Times New Roman"/>
                <a:cs typeface="Times New Roman"/>
              </a:rPr>
              <a:t>Building</a:t>
            </a:r>
            <a:r>
              <a:rPr sz="2750" b="1" spc="-40" dirty="0">
                <a:solidFill>
                  <a:srgbClr val="FFFFFF"/>
                </a:solidFill>
                <a:latin typeface="Times New Roman"/>
                <a:cs typeface="Times New Roman"/>
              </a:rPr>
              <a:t> </a:t>
            </a:r>
            <a:r>
              <a:rPr sz="2750" b="1" spc="55" dirty="0">
                <a:solidFill>
                  <a:srgbClr val="FFFFFF"/>
                </a:solidFill>
                <a:latin typeface="Times New Roman"/>
                <a:cs typeface="Times New Roman"/>
              </a:rPr>
              <a:t>a</a:t>
            </a:r>
            <a:r>
              <a:rPr sz="2750" b="1" spc="-50" dirty="0">
                <a:solidFill>
                  <a:srgbClr val="FFFFFF"/>
                </a:solidFill>
                <a:latin typeface="Times New Roman"/>
                <a:cs typeface="Times New Roman"/>
              </a:rPr>
              <a:t> </a:t>
            </a:r>
            <a:r>
              <a:rPr sz="2750" b="1" spc="70" dirty="0">
                <a:solidFill>
                  <a:srgbClr val="FFFFFF"/>
                </a:solidFill>
                <a:latin typeface="Times New Roman"/>
                <a:cs typeface="Times New Roman"/>
              </a:rPr>
              <a:t>Chatbot </a:t>
            </a:r>
            <a:r>
              <a:rPr sz="2750" b="1" spc="120" dirty="0">
                <a:solidFill>
                  <a:srgbClr val="FFFFFF"/>
                </a:solidFill>
                <a:latin typeface="Times New Roman"/>
                <a:cs typeface="Times New Roman"/>
              </a:rPr>
              <a:t>with</a:t>
            </a:r>
            <a:r>
              <a:rPr sz="2750" b="1" spc="-65" dirty="0">
                <a:solidFill>
                  <a:srgbClr val="FFFFFF"/>
                </a:solidFill>
                <a:latin typeface="Times New Roman"/>
                <a:cs typeface="Times New Roman"/>
              </a:rPr>
              <a:t> </a:t>
            </a:r>
            <a:r>
              <a:rPr sz="2750" b="1" dirty="0">
                <a:solidFill>
                  <a:srgbClr val="FFFFFF"/>
                </a:solidFill>
                <a:latin typeface="Times New Roman"/>
                <a:cs typeface="Times New Roman"/>
              </a:rPr>
              <a:t>HTML,</a:t>
            </a:r>
            <a:r>
              <a:rPr sz="2750" b="1" spc="-65" dirty="0">
                <a:solidFill>
                  <a:srgbClr val="FFFFFF"/>
                </a:solidFill>
                <a:latin typeface="Times New Roman"/>
                <a:cs typeface="Times New Roman"/>
              </a:rPr>
              <a:t> </a:t>
            </a:r>
            <a:r>
              <a:rPr sz="2750" b="1" spc="-20" dirty="0">
                <a:solidFill>
                  <a:srgbClr val="FFFFFF"/>
                </a:solidFill>
                <a:latin typeface="Times New Roman"/>
                <a:cs typeface="Times New Roman"/>
              </a:rPr>
              <a:t>CSS, </a:t>
            </a:r>
            <a:r>
              <a:rPr sz="2750" b="1" spc="-60" dirty="0">
                <a:solidFill>
                  <a:srgbClr val="FFFFFF"/>
                </a:solidFill>
                <a:latin typeface="Times New Roman"/>
                <a:cs typeface="Times New Roman"/>
              </a:rPr>
              <a:t>JS,</a:t>
            </a:r>
            <a:r>
              <a:rPr sz="2750" b="1" spc="-70" dirty="0">
                <a:solidFill>
                  <a:srgbClr val="FFFFFF"/>
                </a:solidFill>
                <a:latin typeface="Times New Roman"/>
                <a:cs typeface="Times New Roman"/>
              </a:rPr>
              <a:t> </a:t>
            </a:r>
            <a:r>
              <a:rPr sz="2750" b="1" spc="114" dirty="0">
                <a:solidFill>
                  <a:srgbClr val="FFFFFF"/>
                </a:solidFill>
                <a:latin typeface="Times New Roman"/>
                <a:cs typeface="Times New Roman"/>
              </a:rPr>
              <a:t>and</a:t>
            </a:r>
            <a:r>
              <a:rPr sz="2750" b="1" spc="-65" dirty="0">
                <a:solidFill>
                  <a:srgbClr val="FFFFFF"/>
                </a:solidFill>
                <a:latin typeface="Times New Roman"/>
                <a:cs typeface="Times New Roman"/>
              </a:rPr>
              <a:t> </a:t>
            </a:r>
            <a:r>
              <a:rPr sz="2750" b="1" spc="-10" dirty="0">
                <a:solidFill>
                  <a:srgbClr val="FFFFFF"/>
                </a:solidFill>
                <a:latin typeface="Times New Roman"/>
                <a:cs typeface="Times New Roman"/>
              </a:rPr>
              <a:t>OpenAI API</a:t>
            </a:r>
            <a:r>
              <a:rPr sz="2750" b="1" spc="-165" dirty="0">
                <a:solidFill>
                  <a:srgbClr val="FFFFFF"/>
                </a:solidFill>
                <a:latin typeface="Times New Roman"/>
                <a:cs typeface="Times New Roman"/>
              </a:rPr>
              <a:t> </a:t>
            </a:r>
            <a:r>
              <a:rPr sz="2750" b="1" spc="90" dirty="0">
                <a:solidFill>
                  <a:srgbClr val="FFFFFF"/>
                </a:solidFill>
                <a:latin typeface="Times New Roman"/>
                <a:cs typeface="Times New Roman"/>
              </a:rPr>
              <a:t>Integration</a:t>
            </a:r>
            <a:endParaRPr sz="2750" dirty="0">
              <a:latin typeface="Times New Roman"/>
              <a:cs typeface="Times New Roman"/>
            </a:endParaRPr>
          </a:p>
        </p:txBody>
      </p:sp>
      <p:pic>
        <p:nvPicPr>
          <p:cNvPr id="3" name="object 3"/>
          <p:cNvPicPr/>
          <p:nvPr/>
        </p:nvPicPr>
        <p:blipFill>
          <a:blip r:embed="rId2" cstate="print"/>
          <a:stretch>
            <a:fillRect/>
          </a:stretch>
        </p:blipFill>
        <p:spPr>
          <a:xfrm>
            <a:off x="428207" y="365330"/>
            <a:ext cx="1637120" cy="25572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5" y="8"/>
            <a:ext cx="2596865" cy="3287938"/>
          </a:xfrm>
          <a:prstGeom prst="rect">
            <a:avLst/>
          </a:prstGeom>
        </p:spPr>
      </p:pic>
      <p:sp>
        <p:nvSpPr>
          <p:cNvPr id="3" name="object 3"/>
          <p:cNvSpPr txBox="1">
            <a:spLocks noGrp="1"/>
          </p:cNvSpPr>
          <p:nvPr>
            <p:ph type="title"/>
          </p:nvPr>
        </p:nvSpPr>
        <p:spPr>
          <a:xfrm>
            <a:off x="2839117" y="359926"/>
            <a:ext cx="2764790" cy="560705"/>
          </a:xfrm>
          <a:prstGeom prst="rect">
            <a:avLst/>
          </a:prstGeom>
          <a:solidFill>
            <a:srgbClr val="000000"/>
          </a:solidFill>
        </p:spPr>
        <p:txBody>
          <a:bodyPr vert="horz" wrap="square" lIns="0" tIns="80645" rIns="0" bIns="0" rtlCol="0">
            <a:spAutoFit/>
          </a:bodyPr>
          <a:lstStyle/>
          <a:p>
            <a:pPr marL="85090">
              <a:lnSpc>
                <a:spcPct val="100000"/>
              </a:lnSpc>
              <a:spcBef>
                <a:spcPts val="635"/>
              </a:spcBef>
            </a:pPr>
            <a:r>
              <a:rPr sz="1600" dirty="0"/>
              <a:t>Enhancing</a:t>
            </a:r>
            <a:r>
              <a:rPr sz="1600" spc="125" dirty="0"/>
              <a:t> </a:t>
            </a:r>
            <a:r>
              <a:rPr sz="1600" spc="-10" dirty="0"/>
              <a:t>User</a:t>
            </a:r>
            <a:r>
              <a:rPr sz="1600" spc="80" dirty="0"/>
              <a:t> </a:t>
            </a:r>
            <a:r>
              <a:rPr sz="1600" spc="-10" dirty="0"/>
              <a:t>Experience</a:t>
            </a:r>
            <a:endParaRPr sz="1600"/>
          </a:p>
        </p:txBody>
      </p:sp>
      <p:pic>
        <p:nvPicPr>
          <p:cNvPr id="4" name="object 4"/>
          <p:cNvPicPr/>
          <p:nvPr/>
        </p:nvPicPr>
        <p:blipFill>
          <a:blip r:embed="rId3" cstate="print"/>
          <a:stretch>
            <a:fillRect/>
          </a:stretch>
        </p:blipFill>
        <p:spPr>
          <a:xfrm>
            <a:off x="3032961" y="1383066"/>
            <a:ext cx="685355" cy="75721"/>
          </a:xfrm>
          <a:prstGeom prst="rect">
            <a:avLst/>
          </a:prstGeom>
        </p:spPr>
      </p:pic>
      <p:sp>
        <p:nvSpPr>
          <p:cNvPr id="5" name="object 5"/>
          <p:cNvSpPr txBox="1"/>
          <p:nvPr/>
        </p:nvSpPr>
        <p:spPr>
          <a:xfrm>
            <a:off x="2969276" y="1046066"/>
            <a:ext cx="2491740" cy="728345"/>
          </a:xfrm>
          <a:prstGeom prst="rect">
            <a:avLst/>
          </a:prstGeom>
        </p:spPr>
        <p:txBody>
          <a:bodyPr vert="horz" wrap="square" lIns="0" tIns="12065" rIns="0" bIns="0" rtlCol="0">
            <a:spAutoFit/>
          </a:bodyPr>
          <a:lstStyle/>
          <a:p>
            <a:pPr marL="141605" marR="5080" indent="-129539">
              <a:lnSpc>
                <a:spcPct val="114900"/>
              </a:lnSpc>
              <a:spcBef>
                <a:spcPts val="95"/>
              </a:spcBef>
            </a:pPr>
            <a:r>
              <a:rPr sz="800" dirty="0">
                <a:latin typeface="Verdana"/>
                <a:cs typeface="Verdana"/>
              </a:rPr>
              <a:t>Welcome</a:t>
            </a:r>
            <a:r>
              <a:rPr sz="800" spc="-5" dirty="0">
                <a:latin typeface="Verdana"/>
                <a:cs typeface="Verdana"/>
              </a:rPr>
              <a:t> </a:t>
            </a:r>
            <a:r>
              <a:rPr sz="800" spc="-10" dirty="0">
                <a:latin typeface="Verdana"/>
                <a:cs typeface="Verdana"/>
              </a:rPr>
              <a:t>to</a:t>
            </a:r>
            <a:r>
              <a:rPr sz="800" spc="-5" dirty="0">
                <a:latin typeface="Verdana"/>
                <a:cs typeface="Verdana"/>
              </a:rPr>
              <a:t> </a:t>
            </a:r>
            <a:r>
              <a:rPr sz="800" dirty="0">
                <a:latin typeface="Verdana"/>
                <a:cs typeface="Verdana"/>
              </a:rPr>
              <a:t>the</a:t>
            </a:r>
            <a:r>
              <a:rPr sz="800" spc="-5" dirty="0">
                <a:latin typeface="Verdana"/>
                <a:cs typeface="Verdana"/>
              </a:rPr>
              <a:t> </a:t>
            </a:r>
            <a:r>
              <a:rPr sz="800" spc="-10" dirty="0">
                <a:latin typeface="Verdana"/>
                <a:cs typeface="Verdana"/>
              </a:rPr>
              <a:t>presentation</a:t>
            </a:r>
            <a:r>
              <a:rPr sz="800" spc="-5" dirty="0">
                <a:latin typeface="Verdana"/>
                <a:cs typeface="Verdana"/>
              </a:rPr>
              <a:t> </a:t>
            </a:r>
            <a:r>
              <a:rPr sz="800" dirty="0">
                <a:latin typeface="Verdana"/>
                <a:cs typeface="Verdana"/>
              </a:rPr>
              <a:t>on</a:t>
            </a:r>
            <a:r>
              <a:rPr sz="800" spc="-5" dirty="0">
                <a:latin typeface="Verdana"/>
                <a:cs typeface="Verdana"/>
              </a:rPr>
              <a:t> </a:t>
            </a:r>
            <a:r>
              <a:rPr sz="800" i="1" dirty="0">
                <a:latin typeface="Verdana"/>
                <a:cs typeface="Verdana"/>
              </a:rPr>
              <a:t>Enhancing</a:t>
            </a:r>
            <a:r>
              <a:rPr sz="800" i="1" spc="-5" dirty="0">
                <a:latin typeface="Verdana"/>
                <a:cs typeface="Verdana"/>
              </a:rPr>
              <a:t> </a:t>
            </a:r>
            <a:r>
              <a:rPr sz="800" i="1" spc="-20" dirty="0">
                <a:latin typeface="Verdana"/>
                <a:cs typeface="Verdana"/>
              </a:rPr>
              <a:t>User </a:t>
            </a:r>
            <a:r>
              <a:rPr sz="800" i="1" spc="-10" dirty="0">
                <a:latin typeface="Verdana"/>
                <a:cs typeface="Verdana"/>
              </a:rPr>
              <a:t>Experience</a:t>
            </a:r>
            <a:r>
              <a:rPr sz="800" i="1" spc="-15" dirty="0">
                <a:latin typeface="Verdana"/>
                <a:cs typeface="Verdana"/>
              </a:rPr>
              <a:t> </a:t>
            </a:r>
            <a:r>
              <a:rPr sz="800" dirty="0">
                <a:latin typeface="Verdana"/>
                <a:cs typeface="Verdana"/>
              </a:rPr>
              <a:t>through</a:t>
            </a:r>
            <a:r>
              <a:rPr sz="800" spc="-10" dirty="0">
                <a:latin typeface="Verdana"/>
                <a:cs typeface="Verdana"/>
              </a:rPr>
              <a:t> </a:t>
            </a:r>
            <a:r>
              <a:rPr sz="800" dirty="0">
                <a:latin typeface="Verdana"/>
                <a:cs typeface="Verdana"/>
              </a:rPr>
              <a:t>building</a:t>
            </a:r>
            <a:r>
              <a:rPr sz="800" spc="-10" dirty="0">
                <a:latin typeface="Verdana"/>
                <a:cs typeface="Verdana"/>
              </a:rPr>
              <a:t> a </a:t>
            </a:r>
            <a:r>
              <a:rPr sz="800" dirty="0">
                <a:latin typeface="Verdana"/>
                <a:cs typeface="Verdana"/>
              </a:rPr>
              <a:t>chatbot</a:t>
            </a:r>
            <a:r>
              <a:rPr sz="800" spc="-10" dirty="0">
                <a:latin typeface="Verdana"/>
                <a:cs typeface="Verdana"/>
              </a:rPr>
              <a:t> </a:t>
            </a:r>
            <a:r>
              <a:rPr sz="800" spc="-20" dirty="0">
                <a:latin typeface="Verdana"/>
                <a:cs typeface="Verdana"/>
              </a:rPr>
              <a:t>with</a:t>
            </a:r>
            <a:endParaRPr sz="800">
              <a:latin typeface="Verdana"/>
              <a:cs typeface="Verdana"/>
            </a:endParaRPr>
          </a:p>
          <a:p>
            <a:pPr marL="34290" marR="26670" indent="311785">
              <a:lnSpc>
                <a:spcPts val="1130"/>
              </a:lnSpc>
              <a:spcBef>
                <a:spcPts val="40"/>
              </a:spcBef>
              <a:tabLst>
                <a:tab pos="589280" algn="l"/>
                <a:tab pos="749300" algn="l"/>
              </a:tabLst>
            </a:pPr>
            <a:r>
              <a:rPr sz="800" spc="-50" dirty="0">
                <a:latin typeface="Verdana"/>
                <a:cs typeface="Verdana"/>
              </a:rPr>
              <a:t>,</a:t>
            </a:r>
            <a:r>
              <a:rPr sz="800" dirty="0">
                <a:latin typeface="Verdana"/>
                <a:cs typeface="Verdana"/>
              </a:rPr>
              <a:t>	</a:t>
            </a:r>
            <a:r>
              <a:rPr sz="800" spc="-50" dirty="0">
                <a:latin typeface="Verdana"/>
                <a:cs typeface="Verdana"/>
              </a:rPr>
              <a:t>,</a:t>
            </a:r>
            <a:r>
              <a:rPr sz="800" dirty="0">
                <a:latin typeface="Verdana"/>
                <a:cs typeface="Verdana"/>
              </a:rPr>
              <a:t>	</a:t>
            </a:r>
            <a:r>
              <a:rPr sz="800" spc="-130" dirty="0">
                <a:latin typeface="Verdana"/>
                <a:cs typeface="Verdana"/>
              </a:rPr>
              <a:t>,</a:t>
            </a:r>
            <a:r>
              <a:rPr sz="800" spc="-30" dirty="0">
                <a:latin typeface="Verdana"/>
                <a:cs typeface="Verdana"/>
              </a:rPr>
              <a:t> </a:t>
            </a:r>
            <a:r>
              <a:rPr sz="800" dirty="0">
                <a:latin typeface="Verdana"/>
                <a:cs typeface="Verdana"/>
              </a:rPr>
              <a:t>and</a:t>
            </a:r>
            <a:r>
              <a:rPr sz="800" spc="-30" dirty="0">
                <a:latin typeface="Verdana"/>
                <a:cs typeface="Verdana"/>
              </a:rPr>
              <a:t> </a:t>
            </a:r>
            <a:r>
              <a:rPr sz="800" spc="-10" dirty="0">
                <a:latin typeface="Verdana"/>
                <a:cs typeface="Verdana"/>
              </a:rPr>
              <a:t>OpenAI</a:t>
            </a:r>
            <a:r>
              <a:rPr sz="800" spc="-30" dirty="0">
                <a:latin typeface="Verdana"/>
                <a:cs typeface="Verdana"/>
              </a:rPr>
              <a:t> </a:t>
            </a:r>
            <a:r>
              <a:rPr sz="800" spc="-10" dirty="0">
                <a:latin typeface="Verdana"/>
                <a:cs typeface="Verdana"/>
              </a:rPr>
              <a:t>API</a:t>
            </a:r>
            <a:r>
              <a:rPr sz="800" spc="-30" dirty="0">
                <a:latin typeface="Verdana"/>
                <a:cs typeface="Verdana"/>
              </a:rPr>
              <a:t> </a:t>
            </a:r>
            <a:r>
              <a:rPr sz="800" spc="-20" dirty="0">
                <a:latin typeface="Verdana"/>
                <a:cs typeface="Verdana"/>
              </a:rPr>
              <a:t>integration.</a:t>
            </a:r>
            <a:r>
              <a:rPr sz="800" spc="-30" dirty="0">
                <a:latin typeface="Verdana"/>
                <a:cs typeface="Verdana"/>
              </a:rPr>
              <a:t> </a:t>
            </a:r>
            <a:r>
              <a:rPr sz="800" spc="-20" dirty="0">
                <a:latin typeface="Verdana"/>
                <a:cs typeface="Verdana"/>
              </a:rPr>
              <a:t>This session</a:t>
            </a:r>
            <a:r>
              <a:rPr sz="800" spc="-45" dirty="0">
                <a:latin typeface="Verdana"/>
                <a:cs typeface="Verdana"/>
              </a:rPr>
              <a:t> </a:t>
            </a:r>
            <a:r>
              <a:rPr sz="800" dirty="0">
                <a:latin typeface="Verdana"/>
                <a:cs typeface="Verdana"/>
              </a:rPr>
              <a:t>will</a:t>
            </a:r>
            <a:r>
              <a:rPr sz="800" spc="-40" dirty="0">
                <a:latin typeface="Verdana"/>
                <a:cs typeface="Verdana"/>
              </a:rPr>
              <a:t> </a:t>
            </a:r>
            <a:r>
              <a:rPr sz="800" spc="-20" dirty="0">
                <a:latin typeface="Verdana"/>
                <a:cs typeface="Verdana"/>
              </a:rPr>
              <a:t>explore</a:t>
            </a:r>
            <a:r>
              <a:rPr sz="800" spc="-45" dirty="0">
                <a:latin typeface="Verdana"/>
                <a:cs typeface="Verdana"/>
              </a:rPr>
              <a:t> </a:t>
            </a:r>
            <a:r>
              <a:rPr sz="800" dirty="0">
                <a:latin typeface="Verdana"/>
                <a:cs typeface="Verdana"/>
              </a:rPr>
              <a:t>the</a:t>
            </a:r>
            <a:r>
              <a:rPr sz="800" spc="-40" dirty="0">
                <a:latin typeface="Verdana"/>
                <a:cs typeface="Verdana"/>
              </a:rPr>
              <a:t> </a:t>
            </a:r>
            <a:r>
              <a:rPr sz="800" spc="-35" dirty="0">
                <a:latin typeface="Verdana"/>
                <a:cs typeface="Verdana"/>
              </a:rPr>
              <a:t>key</a:t>
            </a:r>
            <a:r>
              <a:rPr sz="800" spc="-45" dirty="0">
                <a:latin typeface="Verdana"/>
                <a:cs typeface="Verdana"/>
              </a:rPr>
              <a:t> </a:t>
            </a:r>
            <a:r>
              <a:rPr sz="800" dirty="0">
                <a:latin typeface="Verdana"/>
                <a:cs typeface="Verdana"/>
              </a:rPr>
              <a:t>elements</a:t>
            </a:r>
            <a:r>
              <a:rPr sz="800" spc="-40" dirty="0">
                <a:latin typeface="Verdana"/>
                <a:cs typeface="Verdana"/>
              </a:rPr>
              <a:t> </a:t>
            </a:r>
            <a:r>
              <a:rPr sz="800" spc="-10" dirty="0">
                <a:latin typeface="Verdana"/>
                <a:cs typeface="Verdana"/>
              </a:rPr>
              <a:t>of</a:t>
            </a:r>
            <a:r>
              <a:rPr sz="800" spc="-40" dirty="0">
                <a:latin typeface="Verdana"/>
                <a:cs typeface="Verdana"/>
              </a:rPr>
              <a:t> </a:t>
            </a:r>
            <a:r>
              <a:rPr sz="800" spc="-10" dirty="0">
                <a:latin typeface="Verdana"/>
                <a:cs typeface="Verdana"/>
              </a:rPr>
              <a:t>creating</a:t>
            </a:r>
            <a:endParaRPr sz="800">
              <a:latin typeface="Verdana"/>
              <a:cs typeface="Verdana"/>
            </a:endParaRPr>
          </a:p>
          <a:p>
            <a:pPr marL="549910">
              <a:lnSpc>
                <a:spcPct val="100000"/>
              </a:lnSpc>
              <a:spcBef>
                <a:spcPts val="70"/>
              </a:spcBef>
            </a:pPr>
            <a:r>
              <a:rPr sz="800" spc="-10" dirty="0">
                <a:latin typeface="Verdana"/>
                <a:cs typeface="Verdana"/>
              </a:rPr>
              <a:t>a</a:t>
            </a:r>
            <a:r>
              <a:rPr sz="800" spc="-70" dirty="0">
                <a:latin typeface="Verdana"/>
                <a:cs typeface="Verdana"/>
              </a:rPr>
              <a:t> </a:t>
            </a:r>
            <a:r>
              <a:rPr sz="800" spc="-10" dirty="0">
                <a:latin typeface="Verdana"/>
                <a:cs typeface="Verdana"/>
              </a:rPr>
              <a:t>seamless</a:t>
            </a:r>
            <a:r>
              <a:rPr sz="800" spc="-65" dirty="0">
                <a:latin typeface="Verdana"/>
                <a:cs typeface="Verdana"/>
              </a:rPr>
              <a:t> </a:t>
            </a:r>
            <a:r>
              <a:rPr sz="800" spc="-10" dirty="0">
                <a:latin typeface="Verdana"/>
                <a:cs typeface="Verdana"/>
              </a:rPr>
              <a:t>user</a:t>
            </a:r>
            <a:r>
              <a:rPr sz="800" spc="-65" dirty="0">
                <a:latin typeface="Verdana"/>
                <a:cs typeface="Verdana"/>
              </a:rPr>
              <a:t> </a:t>
            </a:r>
            <a:r>
              <a:rPr sz="800" spc="-10" dirty="0">
                <a:latin typeface="Verdana"/>
                <a:cs typeface="Verdana"/>
              </a:rPr>
              <a:t>experience.</a:t>
            </a:r>
            <a:endParaRPr sz="80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2668" y="448225"/>
            <a:ext cx="2012314" cy="237490"/>
          </a:xfrm>
          <a:prstGeom prst="rect">
            <a:avLst/>
          </a:prstGeom>
        </p:spPr>
        <p:txBody>
          <a:bodyPr vert="horz" wrap="square" lIns="0" tIns="11430" rIns="0" bIns="0" rtlCol="0">
            <a:spAutoFit/>
          </a:bodyPr>
          <a:lstStyle/>
          <a:p>
            <a:pPr marL="12700">
              <a:lnSpc>
                <a:spcPct val="100000"/>
              </a:lnSpc>
              <a:spcBef>
                <a:spcPts val="90"/>
              </a:spcBef>
            </a:pPr>
            <a:r>
              <a:rPr sz="1400" spc="-10" dirty="0">
                <a:solidFill>
                  <a:srgbClr val="000000"/>
                </a:solidFill>
              </a:rPr>
              <a:t>Understanding</a:t>
            </a:r>
            <a:r>
              <a:rPr sz="1400" spc="30" dirty="0">
                <a:solidFill>
                  <a:srgbClr val="000000"/>
                </a:solidFill>
              </a:rPr>
              <a:t> </a:t>
            </a:r>
            <a:r>
              <a:rPr sz="1400" spc="-10" dirty="0">
                <a:solidFill>
                  <a:srgbClr val="000000"/>
                </a:solidFill>
              </a:rPr>
              <a:t>Chatbots</a:t>
            </a:r>
            <a:endParaRPr sz="1400"/>
          </a:p>
        </p:txBody>
      </p:sp>
      <p:sp>
        <p:nvSpPr>
          <p:cNvPr id="3" name="object 3"/>
          <p:cNvSpPr/>
          <p:nvPr/>
        </p:nvSpPr>
        <p:spPr>
          <a:xfrm>
            <a:off x="1520761" y="941044"/>
            <a:ext cx="96520" cy="74930"/>
          </a:xfrm>
          <a:custGeom>
            <a:avLst/>
            <a:gdLst/>
            <a:ahLst/>
            <a:cxnLst/>
            <a:rect l="l" t="t" r="r" b="b"/>
            <a:pathLst>
              <a:path w="96519" h="74930">
                <a:moveTo>
                  <a:pt x="78117" y="74485"/>
                </a:moveTo>
                <a:lnTo>
                  <a:pt x="69532" y="55689"/>
                </a:lnTo>
                <a:lnTo>
                  <a:pt x="64871" y="45491"/>
                </a:lnTo>
                <a:lnTo>
                  <a:pt x="52666" y="18796"/>
                </a:lnTo>
                <a:lnTo>
                  <a:pt x="52666" y="45491"/>
                </a:lnTo>
                <a:lnTo>
                  <a:pt x="25336" y="45491"/>
                </a:lnTo>
                <a:lnTo>
                  <a:pt x="39014" y="14897"/>
                </a:lnTo>
                <a:lnTo>
                  <a:pt x="52666" y="45491"/>
                </a:lnTo>
                <a:lnTo>
                  <a:pt x="52666" y="18796"/>
                </a:lnTo>
                <a:lnTo>
                  <a:pt x="50888" y="14897"/>
                </a:lnTo>
                <a:lnTo>
                  <a:pt x="44081" y="0"/>
                </a:lnTo>
                <a:lnTo>
                  <a:pt x="34048" y="0"/>
                </a:lnTo>
                <a:lnTo>
                  <a:pt x="0" y="74485"/>
                </a:lnTo>
                <a:lnTo>
                  <a:pt x="12344" y="74485"/>
                </a:lnTo>
                <a:lnTo>
                  <a:pt x="20777" y="55689"/>
                </a:lnTo>
                <a:lnTo>
                  <a:pt x="57251" y="55689"/>
                </a:lnTo>
                <a:lnTo>
                  <a:pt x="65697" y="74485"/>
                </a:lnTo>
                <a:lnTo>
                  <a:pt x="78117" y="74485"/>
                </a:lnTo>
                <a:close/>
              </a:path>
              <a:path w="96519" h="74930">
                <a:moveTo>
                  <a:pt x="96050" y="0"/>
                </a:moveTo>
                <a:lnTo>
                  <a:pt x="84455" y="0"/>
                </a:lnTo>
                <a:lnTo>
                  <a:pt x="84455" y="74485"/>
                </a:lnTo>
                <a:lnTo>
                  <a:pt x="96050" y="74485"/>
                </a:lnTo>
                <a:lnTo>
                  <a:pt x="96050" y="0"/>
                </a:lnTo>
                <a:close/>
              </a:path>
            </a:pathLst>
          </a:custGeom>
          <a:solidFill>
            <a:srgbClr val="000000"/>
          </a:solidFill>
        </p:spPr>
        <p:txBody>
          <a:bodyPr wrap="square" lIns="0" tIns="0" rIns="0" bIns="0" rtlCol="0"/>
          <a:lstStyle/>
          <a:p>
            <a:endParaRPr/>
          </a:p>
        </p:txBody>
      </p:sp>
      <p:sp>
        <p:nvSpPr>
          <p:cNvPr id="4" name="object 4"/>
          <p:cNvSpPr txBox="1"/>
          <p:nvPr/>
        </p:nvSpPr>
        <p:spPr>
          <a:xfrm>
            <a:off x="456093" y="882869"/>
            <a:ext cx="2008505" cy="1009015"/>
          </a:xfrm>
          <a:prstGeom prst="rect">
            <a:avLst/>
          </a:prstGeom>
        </p:spPr>
        <p:txBody>
          <a:bodyPr vert="horz" wrap="square" lIns="0" tIns="12065" rIns="0" bIns="0" rtlCol="0">
            <a:spAutoFit/>
          </a:bodyPr>
          <a:lstStyle/>
          <a:p>
            <a:pPr marL="12700" marR="5080" indent="379730" algn="r">
              <a:lnSpc>
                <a:spcPct val="115300"/>
              </a:lnSpc>
              <a:spcBef>
                <a:spcPts val="95"/>
              </a:spcBef>
              <a:tabLst>
                <a:tab pos="1167765" algn="l"/>
              </a:tabLst>
            </a:pPr>
            <a:r>
              <a:rPr sz="800" dirty="0">
                <a:latin typeface="Verdana"/>
                <a:cs typeface="Verdana"/>
              </a:rPr>
              <a:t>Chatbots</a:t>
            </a:r>
            <a:r>
              <a:rPr sz="800" spc="-40" dirty="0">
                <a:latin typeface="Verdana"/>
                <a:cs typeface="Verdana"/>
              </a:rPr>
              <a:t> </a:t>
            </a:r>
            <a:r>
              <a:rPr sz="800" spc="-25" dirty="0">
                <a:latin typeface="Verdana"/>
                <a:cs typeface="Verdana"/>
              </a:rPr>
              <a:t>are</a:t>
            </a:r>
            <a:r>
              <a:rPr sz="800" dirty="0">
                <a:latin typeface="Verdana"/>
                <a:cs typeface="Verdana"/>
              </a:rPr>
              <a:t>	</a:t>
            </a:r>
            <a:r>
              <a:rPr sz="800" spc="-70" dirty="0">
                <a:latin typeface="Verdana"/>
                <a:cs typeface="Verdana"/>
              </a:rPr>
              <a:t>-</a:t>
            </a:r>
            <a:r>
              <a:rPr sz="800" dirty="0">
                <a:latin typeface="Verdana"/>
                <a:cs typeface="Verdana"/>
              </a:rPr>
              <a:t>powered</a:t>
            </a:r>
            <a:r>
              <a:rPr sz="800" spc="-20" dirty="0">
                <a:latin typeface="Verdana"/>
                <a:cs typeface="Verdana"/>
              </a:rPr>
              <a:t> </a:t>
            </a:r>
            <a:r>
              <a:rPr sz="800" spc="-10" dirty="0">
                <a:latin typeface="Verdana"/>
                <a:cs typeface="Verdana"/>
              </a:rPr>
              <a:t>virtual assistants</a:t>
            </a:r>
            <a:r>
              <a:rPr sz="800" spc="-50" dirty="0">
                <a:latin typeface="Verdana"/>
                <a:cs typeface="Verdana"/>
              </a:rPr>
              <a:t> </a:t>
            </a:r>
            <a:r>
              <a:rPr sz="800" dirty="0">
                <a:latin typeface="Verdana"/>
                <a:cs typeface="Verdana"/>
              </a:rPr>
              <a:t>designed</a:t>
            </a:r>
            <a:r>
              <a:rPr sz="800" spc="-50" dirty="0">
                <a:latin typeface="Verdana"/>
                <a:cs typeface="Verdana"/>
              </a:rPr>
              <a:t> </a:t>
            </a:r>
            <a:r>
              <a:rPr sz="800" spc="-10" dirty="0">
                <a:latin typeface="Verdana"/>
                <a:cs typeface="Verdana"/>
              </a:rPr>
              <a:t>to</a:t>
            </a:r>
            <a:r>
              <a:rPr sz="800" spc="-45" dirty="0">
                <a:latin typeface="Verdana"/>
                <a:cs typeface="Verdana"/>
              </a:rPr>
              <a:t> </a:t>
            </a:r>
            <a:r>
              <a:rPr sz="800" dirty="0">
                <a:latin typeface="Verdana"/>
                <a:cs typeface="Verdana"/>
              </a:rPr>
              <a:t>simulate</a:t>
            </a:r>
            <a:r>
              <a:rPr sz="800" spc="-50" dirty="0">
                <a:latin typeface="Verdana"/>
                <a:cs typeface="Verdana"/>
              </a:rPr>
              <a:t> </a:t>
            </a:r>
            <a:r>
              <a:rPr sz="800" spc="-10" dirty="0">
                <a:latin typeface="Verdana"/>
                <a:cs typeface="Verdana"/>
              </a:rPr>
              <a:t>human </a:t>
            </a:r>
            <a:r>
              <a:rPr sz="800" spc="-25" dirty="0">
                <a:latin typeface="Verdana"/>
                <a:cs typeface="Verdana"/>
              </a:rPr>
              <a:t>conversation. They </a:t>
            </a:r>
            <a:r>
              <a:rPr sz="800" dirty="0">
                <a:latin typeface="Verdana"/>
                <a:cs typeface="Verdana"/>
              </a:rPr>
              <a:t>can</a:t>
            </a:r>
            <a:r>
              <a:rPr sz="800" spc="-25" dirty="0">
                <a:latin typeface="Verdana"/>
                <a:cs typeface="Verdana"/>
              </a:rPr>
              <a:t> </a:t>
            </a:r>
            <a:r>
              <a:rPr sz="800" spc="-10" dirty="0">
                <a:latin typeface="Verdana"/>
                <a:cs typeface="Verdana"/>
              </a:rPr>
              <a:t>provide</a:t>
            </a:r>
            <a:r>
              <a:rPr sz="800" spc="-25" dirty="0">
                <a:latin typeface="Verdana"/>
                <a:cs typeface="Verdana"/>
              </a:rPr>
              <a:t> </a:t>
            </a:r>
            <a:r>
              <a:rPr sz="800" spc="-10" dirty="0">
                <a:latin typeface="Verdana"/>
                <a:cs typeface="Verdana"/>
              </a:rPr>
              <a:t>instant support,</a:t>
            </a:r>
            <a:r>
              <a:rPr sz="800" spc="-35" dirty="0">
                <a:latin typeface="Verdana"/>
                <a:cs typeface="Verdana"/>
              </a:rPr>
              <a:t> </a:t>
            </a:r>
            <a:r>
              <a:rPr sz="800" spc="-10" dirty="0">
                <a:latin typeface="Verdana"/>
                <a:cs typeface="Verdana"/>
              </a:rPr>
              <a:t>answer</a:t>
            </a:r>
            <a:r>
              <a:rPr sz="800" spc="-35" dirty="0">
                <a:latin typeface="Verdana"/>
                <a:cs typeface="Verdana"/>
              </a:rPr>
              <a:t> </a:t>
            </a:r>
            <a:r>
              <a:rPr sz="800" spc="-30" dirty="0">
                <a:latin typeface="Verdana"/>
                <a:cs typeface="Verdana"/>
              </a:rPr>
              <a:t>queries,</a:t>
            </a:r>
            <a:r>
              <a:rPr sz="800" spc="-35" dirty="0">
                <a:latin typeface="Verdana"/>
                <a:cs typeface="Verdana"/>
              </a:rPr>
              <a:t> </a:t>
            </a:r>
            <a:r>
              <a:rPr sz="800" spc="-25" dirty="0">
                <a:latin typeface="Verdana"/>
                <a:cs typeface="Verdana"/>
              </a:rPr>
              <a:t>and </a:t>
            </a:r>
            <a:r>
              <a:rPr sz="800" spc="-10" dirty="0">
                <a:latin typeface="Verdana"/>
                <a:cs typeface="Verdana"/>
              </a:rPr>
              <a:t>personalize </a:t>
            </a:r>
            <a:r>
              <a:rPr sz="800" spc="-20" dirty="0">
                <a:latin typeface="Verdana"/>
                <a:cs typeface="Verdana"/>
              </a:rPr>
              <a:t>interactions.</a:t>
            </a:r>
            <a:r>
              <a:rPr sz="800" spc="-5" dirty="0">
                <a:latin typeface="Verdana"/>
                <a:cs typeface="Verdana"/>
              </a:rPr>
              <a:t> </a:t>
            </a:r>
            <a:r>
              <a:rPr sz="800" spc="-10" dirty="0">
                <a:latin typeface="Verdana"/>
                <a:cs typeface="Verdana"/>
              </a:rPr>
              <a:t>Leveraging </a:t>
            </a:r>
            <a:r>
              <a:rPr sz="800" dirty="0">
                <a:latin typeface="Verdana"/>
                <a:cs typeface="Verdana"/>
              </a:rPr>
              <a:t>chatbots</a:t>
            </a:r>
            <a:r>
              <a:rPr sz="800" spc="-45" dirty="0">
                <a:latin typeface="Verdana"/>
                <a:cs typeface="Verdana"/>
              </a:rPr>
              <a:t> </a:t>
            </a:r>
            <a:r>
              <a:rPr sz="800" dirty="0">
                <a:latin typeface="Verdana"/>
                <a:cs typeface="Verdana"/>
              </a:rPr>
              <a:t>can</a:t>
            </a:r>
            <a:r>
              <a:rPr sz="800" spc="-40" dirty="0">
                <a:latin typeface="Verdana"/>
                <a:cs typeface="Verdana"/>
              </a:rPr>
              <a:t> </a:t>
            </a:r>
            <a:r>
              <a:rPr sz="800" dirty="0">
                <a:latin typeface="Verdana"/>
                <a:cs typeface="Verdana"/>
              </a:rPr>
              <a:t>significantly</a:t>
            </a:r>
            <a:r>
              <a:rPr sz="800" spc="-40" dirty="0">
                <a:latin typeface="Verdana"/>
                <a:cs typeface="Verdana"/>
              </a:rPr>
              <a:t> </a:t>
            </a:r>
            <a:r>
              <a:rPr sz="800" spc="-10" dirty="0">
                <a:latin typeface="Verdana"/>
                <a:cs typeface="Verdana"/>
              </a:rPr>
              <a:t>improve</a:t>
            </a:r>
            <a:r>
              <a:rPr sz="800" spc="-40" dirty="0">
                <a:latin typeface="Verdana"/>
                <a:cs typeface="Verdana"/>
              </a:rPr>
              <a:t> </a:t>
            </a:r>
            <a:r>
              <a:rPr sz="800" spc="-20" dirty="0">
                <a:latin typeface="Verdana"/>
                <a:cs typeface="Verdana"/>
              </a:rPr>
              <a:t>user </a:t>
            </a:r>
            <a:r>
              <a:rPr sz="800" dirty="0">
                <a:latin typeface="Verdana"/>
                <a:cs typeface="Verdana"/>
              </a:rPr>
              <a:t>engagement</a:t>
            </a:r>
            <a:r>
              <a:rPr sz="800" spc="35" dirty="0">
                <a:latin typeface="Verdana"/>
                <a:cs typeface="Verdana"/>
              </a:rPr>
              <a:t> </a:t>
            </a:r>
            <a:r>
              <a:rPr sz="800" dirty="0">
                <a:latin typeface="Verdana"/>
                <a:cs typeface="Verdana"/>
              </a:rPr>
              <a:t>and</a:t>
            </a:r>
            <a:r>
              <a:rPr sz="800" spc="35" dirty="0">
                <a:latin typeface="Verdana"/>
                <a:cs typeface="Verdana"/>
              </a:rPr>
              <a:t> </a:t>
            </a:r>
            <a:r>
              <a:rPr sz="800" spc="-10" dirty="0">
                <a:latin typeface="Verdana"/>
                <a:cs typeface="Verdana"/>
              </a:rPr>
              <a:t>satisfaction.</a:t>
            </a:r>
            <a:endParaRPr sz="800">
              <a:latin typeface="Verdana"/>
              <a:cs typeface="Verdana"/>
            </a:endParaRPr>
          </a:p>
        </p:txBody>
      </p:sp>
      <p:pic>
        <p:nvPicPr>
          <p:cNvPr id="5" name="object 5"/>
          <p:cNvPicPr/>
          <p:nvPr/>
        </p:nvPicPr>
        <p:blipFill>
          <a:blip r:embed="rId2" cstate="print"/>
          <a:stretch>
            <a:fillRect/>
          </a:stretch>
        </p:blipFill>
        <p:spPr>
          <a:xfrm>
            <a:off x="3258139" y="37552"/>
            <a:ext cx="2204447" cy="32503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28"/>
            <a:ext cx="5854700" cy="3240994"/>
          </a:xfrm>
          <a:prstGeom prst="rect">
            <a:avLst/>
          </a:prstGeom>
        </p:spPr>
      </p:pic>
    </p:spTree>
    <p:extLst>
      <p:ext uri="{BB962C8B-B14F-4D97-AF65-F5344CB8AC3E}">
        <p14:creationId xmlns:p14="http://schemas.microsoft.com/office/powerpoint/2010/main" val="4106692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924126" y="8"/>
            <a:ext cx="2922905" cy="3288029"/>
            <a:chOff x="2924126" y="8"/>
            <a:chExt cx="2922905" cy="3288029"/>
          </a:xfrm>
        </p:grpSpPr>
        <p:sp>
          <p:nvSpPr>
            <p:cNvPr id="3" name="object 3"/>
            <p:cNvSpPr/>
            <p:nvPr/>
          </p:nvSpPr>
          <p:spPr>
            <a:xfrm>
              <a:off x="2924126" y="8"/>
              <a:ext cx="2922905" cy="3288029"/>
            </a:xfrm>
            <a:custGeom>
              <a:avLst/>
              <a:gdLst/>
              <a:ahLst/>
              <a:cxnLst/>
              <a:rect l="l" t="t" r="r" b="b"/>
              <a:pathLst>
                <a:path w="2922904" h="3288029">
                  <a:moveTo>
                    <a:pt x="2922614" y="0"/>
                  </a:moveTo>
                  <a:lnTo>
                    <a:pt x="0" y="0"/>
                  </a:lnTo>
                  <a:lnTo>
                    <a:pt x="0" y="3287938"/>
                  </a:lnTo>
                  <a:lnTo>
                    <a:pt x="2922614" y="3287938"/>
                  </a:lnTo>
                  <a:lnTo>
                    <a:pt x="2922614"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3342589" y="365330"/>
              <a:ext cx="2076270" cy="2545104"/>
            </a:xfrm>
            <a:prstGeom prst="rect">
              <a:avLst/>
            </a:prstGeom>
          </p:spPr>
        </p:pic>
      </p:grpSp>
      <p:sp>
        <p:nvSpPr>
          <p:cNvPr id="5" name="object 5"/>
          <p:cNvSpPr txBox="1">
            <a:spLocks noGrp="1"/>
          </p:cNvSpPr>
          <p:nvPr>
            <p:ph type="title"/>
          </p:nvPr>
        </p:nvSpPr>
        <p:spPr>
          <a:xfrm>
            <a:off x="452525" y="610989"/>
            <a:ext cx="2024380" cy="427355"/>
          </a:xfrm>
          <a:prstGeom prst="rect">
            <a:avLst/>
          </a:prstGeom>
        </p:spPr>
        <p:txBody>
          <a:bodyPr vert="horz" wrap="square" lIns="0" tIns="12065" rIns="0" bIns="0" rtlCol="0">
            <a:spAutoFit/>
          </a:bodyPr>
          <a:lstStyle/>
          <a:p>
            <a:pPr marL="12700" marR="5080">
              <a:lnSpc>
                <a:spcPct val="101400"/>
              </a:lnSpc>
              <a:spcBef>
                <a:spcPts val="95"/>
              </a:spcBef>
            </a:pPr>
            <a:r>
              <a:rPr sz="1300" dirty="0">
                <a:solidFill>
                  <a:srgbClr val="000000"/>
                </a:solidFill>
              </a:rPr>
              <a:t>The</a:t>
            </a:r>
            <a:r>
              <a:rPr sz="1300" spc="30" dirty="0">
                <a:solidFill>
                  <a:srgbClr val="000000"/>
                </a:solidFill>
              </a:rPr>
              <a:t> </a:t>
            </a:r>
            <a:r>
              <a:rPr sz="1300" dirty="0">
                <a:solidFill>
                  <a:srgbClr val="000000"/>
                </a:solidFill>
              </a:rPr>
              <a:t>Power</a:t>
            </a:r>
            <a:r>
              <a:rPr sz="1300" spc="5" dirty="0">
                <a:solidFill>
                  <a:srgbClr val="000000"/>
                </a:solidFill>
              </a:rPr>
              <a:t> </a:t>
            </a:r>
            <a:r>
              <a:rPr sz="1300" dirty="0">
                <a:solidFill>
                  <a:srgbClr val="000000"/>
                </a:solidFill>
              </a:rPr>
              <a:t>of</a:t>
            </a:r>
            <a:r>
              <a:rPr sz="1300" spc="30" dirty="0">
                <a:solidFill>
                  <a:srgbClr val="000000"/>
                </a:solidFill>
              </a:rPr>
              <a:t> </a:t>
            </a:r>
            <a:r>
              <a:rPr sz="1300" spc="80" dirty="0">
                <a:solidFill>
                  <a:srgbClr val="000000"/>
                </a:solidFill>
              </a:rPr>
              <a:t>HTML,</a:t>
            </a:r>
            <a:r>
              <a:rPr sz="1300" spc="35" dirty="0">
                <a:solidFill>
                  <a:srgbClr val="000000"/>
                </a:solidFill>
              </a:rPr>
              <a:t> </a:t>
            </a:r>
            <a:r>
              <a:rPr sz="1300" spc="90" dirty="0">
                <a:solidFill>
                  <a:srgbClr val="000000"/>
                </a:solidFill>
              </a:rPr>
              <a:t>CSS, </a:t>
            </a:r>
            <a:r>
              <a:rPr sz="1300" dirty="0">
                <a:solidFill>
                  <a:srgbClr val="000000"/>
                </a:solidFill>
              </a:rPr>
              <a:t>and</a:t>
            </a:r>
            <a:r>
              <a:rPr sz="1300" spc="10" dirty="0">
                <a:solidFill>
                  <a:srgbClr val="000000"/>
                </a:solidFill>
              </a:rPr>
              <a:t> </a:t>
            </a:r>
            <a:r>
              <a:rPr sz="1300" spc="45" dirty="0">
                <a:solidFill>
                  <a:srgbClr val="000000"/>
                </a:solidFill>
              </a:rPr>
              <a:t>JS</a:t>
            </a:r>
            <a:endParaRPr sz="1300"/>
          </a:p>
        </p:txBody>
      </p:sp>
      <p:sp>
        <p:nvSpPr>
          <p:cNvPr id="6" name="object 6"/>
          <p:cNvSpPr txBox="1"/>
          <p:nvPr/>
        </p:nvSpPr>
        <p:spPr>
          <a:xfrm>
            <a:off x="450989" y="1000170"/>
            <a:ext cx="2014855" cy="869315"/>
          </a:xfrm>
          <a:prstGeom prst="rect">
            <a:avLst/>
          </a:prstGeom>
        </p:spPr>
        <p:txBody>
          <a:bodyPr vert="horz" wrap="square" lIns="0" tIns="12065" rIns="0" bIns="0" rtlCol="0">
            <a:spAutoFit/>
          </a:bodyPr>
          <a:lstStyle/>
          <a:p>
            <a:pPr marL="12700" marR="5080">
              <a:lnSpc>
                <a:spcPct val="115399"/>
              </a:lnSpc>
              <a:spcBef>
                <a:spcPts val="95"/>
              </a:spcBef>
            </a:pPr>
            <a:r>
              <a:rPr sz="800" spc="-10" dirty="0">
                <a:latin typeface="Verdana"/>
                <a:cs typeface="Verdana"/>
              </a:rPr>
              <a:t>HTML,</a:t>
            </a:r>
            <a:r>
              <a:rPr sz="800" spc="-50" dirty="0">
                <a:latin typeface="Verdana"/>
                <a:cs typeface="Verdana"/>
              </a:rPr>
              <a:t> </a:t>
            </a:r>
            <a:r>
              <a:rPr sz="800" spc="-65" dirty="0">
                <a:latin typeface="Verdana"/>
                <a:cs typeface="Verdana"/>
              </a:rPr>
              <a:t>CSS,</a:t>
            </a:r>
            <a:r>
              <a:rPr sz="800" spc="-45" dirty="0">
                <a:latin typeface="Verdana"/>
                <a:cs typeface="Verdana"/>
              </a:rPr>
              <a:t> </a:t>
            </a:r>
            <a:r>
              <a:rPr sz="800" dirty="0">
                <a:latin typeface="Verdana"/>
                <a:cs typeface="Verdana"/>
              </a:rPr>
              <a:t>and</a:t>
            </a:r>
            <a:r>
              <a:rPr sz="800" spc="-45" dirty="0">
                <a:latin typeface="Verdana"/>
                <a:cs typeface="Verdana"/>
              </a:rPr>
              <a:t> </a:t>
            </a:r>
            <a:r>
              <a:rPr sz="800" spc="-25" dirty="0">
                <a:latin typeface="Verdana"/>
                <a:cs typeface="Verdana"/>
              </a:rPr>
              <a:t>JS</a:t>
            </a:r>
            <a:r>
              <a:rPr sz="800" spc="-45" dirty="0">
                <a:latin typeface="Verdana"/>
                <a:cs typeface="Verdana"/>
              </a:rPr>
              <a:t> </a:t>
            </a:r>
            <a:r>
              <a:rPr sz="800" spc="-25" dirty="0">
                <a:latin typeface="Verdana"/>
                <a:cs typeface="Verdana"/>
              </a:rPr>
              <a:t>are</a:t>
            </a:r>
            <a:r>
              <a:rPr sz="800" spc="-45" dirty="0">
                <a:latin typeface="Verdana"/>
                <a:cs typeface="Verdana"/>
              </a:rPr>
              <a:t> </a:t>
            </a:r>
            <a:r>
              <a:rPr sz="800" dirty="0">
                <a:latin typeface="Verdana"/>
                <a:cs typeface="Verdana"/>
              </a:rPr>
              <a:t>the</a:t>
            </a:r>
            <a:r>
              <a:rPr sz="800" spc="-50" dirty="0">
                <a:latin typeface="Verdana"/>
                <a:cs typeface="Verdana"/>
              </a:rPr>
              <a:t> </a:t>
            </a:r>
            <a:r>
              <a:rPr sz="800" spc="-10" dirty="0">
                <a:latin typeface="Verdana"/>
                <a:cs typeface="Verdana"/>
              </a:rPr>
              <a:t>building blocks</a:t>
            </a:r>
            <a:r>
              <a:rPr sz="800" spc="-20" dirty="0">
                <a:latin typeface="Verdana"/>
                <a:cs typeface="Verdana"/>
              </a:rPr>
              <a:t> of</a:t>
            </a:r>
            <a:r>
              <a:rPr sz="800" spc="-15" dirty="0">
                <a:latin typeface="Verdana"/>
                <a:cs typeface="Verdana"/>
              </a:rPr>
              <a:t> </a:t>
            </a:r>
            <a:r>
              <a:rPr sz="800" dirty="0">
                <a:latin typeface="Verdana"/>
                <a:cs typeface="Verdana"/>
              </a:rPr>
              <a:t>web</a:t>
            </a:r>
            <a:r>
              <a:rPr sz="800" spc="-20" dirty="0">
                <a:latin typeface="Verdana"/>
                <a:cs typeface="Verdana"/>
              </a:rPr>
              <a:t> </a:t>
            </a:r>
            <a:r>
              <a:rPr sz="800" spc="-10" dirty="0">
                <a:latin typeface="Verdana"/>
                <a:cs typeface="Verdana"/>
              </a:rPr>
              <a:t>development.</a:t>
            </a:r>
            <a:r>
              <a:rPr sz="800" spc="-20" dirty="0">
                <a:latin typeface="Verdana"/>
                <a:cs typeface="Verdana"/>
              </a:rPr>
              <a:t> </a:t>
            </a:r>
            <a:r>
              <a:rPr sz="800" dirty="0">
                <a:latin typeface="Verdana"/>
                <a:cs typeface="Verdana"/>
              </a:rPr>
              <a:t>With</a:t>
            </a:r>
            <a:r>
              <a:rPr sz="800" spc="-15" dirty="0">
                <a:latin typeface="Verdana"/>
                <a:cs typeface="Verdana"/>
              </a:rPr>
              <a:t> </a:t>
            </a:r>
            <a:r>
              <a:rPr sz="800" spc="-10" dirty="0">
                <a:latin typeface="Verdana"/>
                <a:cs typeface="Verdana"/>
              </a:rPr>
              <a:t>these technologies,</a:t>
            </a:r>
            <a:r>
              <a:rPr sz="800" spc="-45" dirty="0">
                <a:latin typeface="Verdana"/>
                <a:cs typeface="Verdana"/>
              </a:rPr>
              <a:t> </a:t>
            </a:r>
            <a:r>
              <a:rPr sz="800" dirty="0">
                <a:latin typeface="Verdana"/>
                <a:cs typeface="Verdana"/>
              </a:rPr>
              <a:t>we</a:t>
            </a:r>
            <a:r>
              <a:rPr sz="800" spc="-45" dirty="0">
                <a:latin typeface="Verdana"/>
                <a:cs typeface="Verdana"/>
              </a:rPr>
              <a:t> </a:t>
            </a:r>
            <a:r>
              <a:rPr sz="800" dirty="0">
                <a:latin typeface="Verdana"/>
                <a:cs typeface="Verdana"/>
              </a:rPr>
              <a:t>can</a:t>
            </a:r>
            <a:r>
              <a:rPr sz="800" spc="-45" dirty="0">
                <a:latin typeface="Verdana"/>
                <a:cs typeface="Verdana"/>
              </a:rPr>
              <a:t> </a:t>
            </a:r>
            <a:r>
              <a:rPr sz="800" spc="-10" dirty="0">
                <a:latin typeface="Verdana"/>
                <a:cs typeface="Verdana"/>
              </a:rPr>
              <a:t>create</a:t>
            </a:r>
            <a:r>
              <a:rPr sz="800" spc="-45" dirty="0">
                <a:latin typeface="Verdana"/>
                <a:cs typeface="Verdana"/>
              </a:rPr>
              <a:t> </a:t>
            </a:r>
            <a:r>
              <a:rPr sz="800" spc="-10" dirty="0">
                <a:latin typeface="Verdana"/>
                <a:cs typeface="Verdana"/>
              </a:rPr>
              <a:t>dynamic </a:t>
            </a:r>
            <a:r>
              <a:rPr sz="800" dirty="0">
                <a:latin typeface="Verdana"/>
                <a:cs typeface="Verdana"/>
              </a:rPr>
              <a:t>and</a:t>
            </a:r>
            <a:r>
              <a:rPr sz="800" spc="-40" dirty="0">
                <a:latin typeface="Verdana"/>
                <a:cs typeface="Verdana"/>
              </a:rPr>
              <a:t> </a:t>
            </a:r>
            <a:r>
              <a:rPr sz="800" spc="-10" dirty="0">
                <a:latin typeface="Verdana"/>
                <a:cs typeface="Verdana"/>
              </a:rPr>
              <a:t>interactive</a:t>
            </a:r>
            <a:r>
              <a:rPr sz="800" spc="-35" dirty="0">
                <a:latin typeface="Verdana"/>
                <a:cs typeface="Verdana"/>
              </a:rPr>
              <a:t> </a:t>
            </a:r>
            <a:r>
              <a:rPr sz="800" spc="-25" dirty="0">
                <a:latin typeface="Verdana"/>
                <a:cs typeface="Verdana"/>
              </a:rPr>
              <a:t>interfaces,</a:t>
            </a:r>
            <a:r>
              <a:rPr sz="800" spc="-35" dirty="0">
                <a:latin typeface="Verdana"/>
                <a:cs typeface="Verdana"/>
              </a:rPr>
              <a:t> </a:t>
            </a:r>
            <a:r>
              <a:rPr sz="800" dirty="0">
                <a:latin typeface="Verdana"/>
                <a:cs typeface="Verdana"/>
              </a:rPr>
              <a:t>ensuring</a:t>
            </a:r>
            <a:r>
              <a:rPr sz="800" spc="-35" dirty="0">
                <a:latin typeface="Verdana"/>
                <a:cs typeface="Verdana"/>
              </a:rPr>
              <a:t> </a:t>
            </a:r>
            <a:r>
              <a:rPr sz="800" spc="-50" dirty="0">
                <a:latin typeface="Verdana"/>
                <a:cs typeface="Verdana"/>
              </a:rPr>
              <a:t>a </a:t>
            </a:r>
            <a:r>
              <a:rPr sz="800" spc="-10" dirty="0">
                <a:latin typeface="Verdana"/>
                <a:cs typeface="Verdana"/>
              </a:rPr>
              <a:t>seamless</a:t>
            </a:r>
            <a:r>
              <a:rPr sz="800" spc="-30" dirty="0">
                <a:latin typeface="Verdana"/>
                <a:cs typeface="Verdana"/>
              </a:rPr>
              <a:t> </a:t>
            </a:r>
            <a:r>
              <a:rPr sz="800" spc="-20" dirty="0">
                <a:latin typeface="Verdana"/>
                <a:cs typeface="Verdana"/>
              </a:rPr>
              <a:t>user</a:t>
            </a:r>
            <a:r>
              <a:rPr sz="800" spc="-25" dirty="0">
                <a:latin typeface="Verdana"/>
                <a:cs typeface="Verdana"/>
              </a:rPr>
              <a:t> experience.</a:t>
            </a:r>
            <a:r>
              <a:rPr sz="800" spc="-30" dirty="0">
                <a:latin typeface="Verdana"/>
                <a:cs typeface="Verdana"/>
              </a:rPr>
              <a:t> </a:t>
            </a:r>
            <a:r>
              <a:rPr sz="800" spc="-20" dirty="0">
                <a:latin typeface="Verdana"/>
                <a:cs typeface="Verdana"/>
              </a:rPr>
              <a:t>Let's</a:t>
            </a:r>
            <a:r>
              <a:rPr sz="800" spc="-25" dirty="0">
                <a:latin typeface="Verdana"/>
                <a:cs typeface="Verdana"/>
              </a:rPr>
              <a:t> </a:t>
            </a:r>
            <a:r>
              <a:rPr sz="800" spc="-10" dirty="0">
                <a:latin typeface="Verdana"/>
                <a:cs typeface="Verdana"/>
              </a:rPr>
              <a:t>explore their</a:t>
            </a:r>
            <a:r>
              <a:rPr sz="800" spc="-40" dirty="0">
                <a:latin typeface="Verdana"/>
                <a:cs typeface="Verdana"/>
              </a:rPr>
              <a:t> </a:t>
            </a:r>
            <a:r>
              <a:rPr sz="800" spc="-20" dirty="0">
                <a:latin typeface="Verdana"/>
                <a:cs typeface="Verdana"/>
              </a:rPr>
              <a:t>role</a:t>
            </a:r>
            <a:r>
              <a:rPr sz="800" spc="-35" dirty="0">
                <a:latin typeface="Verdana"/>
                <a:cs typeface="Verdana"/>
              </a:rPr>
              <a:t> </a:t>
            </a:r>
            <a:r>
              <a:rPr sz="800" dirty="0">
                <a:latin typeface="Verdana"/>
                <a:cs typeface="Verdana"/>
              </a:rPr>
              <a:t>in</a:t>
            </a:r>
            <a:r>
              <a:rPr sz="800" spc="-35" dirty="0">
                <a:latin typeface="Verdana"/>
                <a:cs typeface="Verdana"/>
              </a:rPr>
              <a:t> </a:t>
            </a:r>
            <a:r>
              <a:rPr sz="800" dirty="0">
                <a:latin typeface="Verdana"/>
                <a:cs typeface="Verdana"/>
              </a:rPr>
              <a:t>chatbot</a:t>
            </a:r>
            <a:r>
              <a:rPr sz="800" spc="-40" dirty="0">
                <a:latin typeface="Verdana"/>
                <a:cs typeface="Verdana"/>
              </a:rPr>
              <a:t> </a:t>
            </a:r>
            <a:r>
              <a:rPr sz="800" spc="-10" dirty="0">
                <a:latin typeface="Verdana"/>
                <a:cs typeface="Verdana"/>
              </a:rPr>
              <a:t>development.</a:t>
            </a:r>
            <a:endParaRPr sz="80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8703" y="645290"/>
            <a:ext cx="1816100" cy="224154"/>
          </a:xfrm>
          <a:prstGeom prst="rect">
            <a:avLst/>
          </a:prstGeom>
        </p:spPr>
        <p:txBody>
          <a:bodyPr vert="horz" wrap="square" lIns="0" tIns="12700" rIns="0" bIns="0" rtlCol="0">
            <a:spAutoFit/>
          </a:bodyPr>
          <a:lstStyle/>
          <a:p>
            <a:pPr marL="12700">
              <a:lnSpc>
                <a:spcPct val="100000"/>
              </a:lnSpc>
              <a:spcBef>
                <a:spcPts val="100"/>
              </a:spcBef>
            </a:pPr>
            <a:r>
              <a:rPr sz="1300" dirty="0"/>
              <a:t>Integrating</a:t>
            </a:r>
            <a:r>
              <a:rPr sz="1300" spc="65" dirty="0"/>
              <a:t> </a:t>
            </a:r>
            <a:r>
              <a:rPr sz="1300" dirty="0"/>
              <a:t>OpenAI</a:t>
            </a:r>
            <a:r>
              <a:rPr sz="1300" spc="5" dirty="0"/>
              <a:t> </a:t>
            </a:r>
            <a:r>
              <a:rPr sz="1300" spc="-25" dirty="0"/>
              <a:t>API</a:t>
            </a:r>
            <a:endParaRPr sz="1300"/>
          </a:p>
        </p:txBody>
      </p:sp>
      <p:sp>
        <p:nvSpPr>
          <p:cNvPr id="3" name="object 3"/>
          <p:cNvSpPr txBox="1"/>
          <p:nvPr/>
        </p:nvSpPr>
        <p:spPr>
          <a:xfrm>
            <a:off x="3528590" y="999526"/>
            <a:ext cx="1795145" cy="876935"/>
          </a:xfrm>
          <a:prstGeom prst="rect">
            <a:avLst/>
          </a:prstGeom>
        </p:spPr>
        <p:txBody>
          <a:bodyPr vert="horz" wrap="square" lIns="0" tIns="11430" rIns="0" bIns="0" rtlCol="0">
            <a:spAutoFit/>
          </a:bodyPr>
          <a:lstStyle/>
          <a:p>
            <a:pPr marL="12700" marR="5080">
              <a:lnSpc>
                <a:spcPct val="100000"/>
              </a:lnSpc>
              <a:spcBef>
                <a:spcPts val="90"/>
              </a:spcBef>
            </a:pPr>
            <a:r>
              <a:rPr sz="800" spc="-10" dirty="0">
                <a:solidFill>
                  <a:srgbClr val="FFFFFF"/>
                </a:solidFill>
                <a:latin typeface="Verdana"/>
                <a:cs typeface="Verdana"/>
              </a:rPr>
              <a:t>The</a:t>
            </a:r>
            <a:r>
              <a:rPr sz="800" spc="-60" dirty="0">
                <a:solidFill>
                  <a:srgbClr val="FFFFFF"/>
                </a:solidFill>
                <a:latin typeface="Verdana"/>
                <a:cs typeface="Verdana"/>
              </a:rPr>
              <a:t> </a:t>
            </a:r>
            <a:r>
              <a:rPr sz="800" spc="-10" dirty="0">
                <a:solidFill>
                  <a:srgbClr val="FFFFFF"/>
                </a:solidFill>
                <a:latin typeface="Verdana"/>
                <a:cs typeface="Verdana"/>
              </a:rPr>
              <a:t>OpenAI</a:t>
            </a:r>
            <a:r>
              <a:rPr sz="800" spc="-55" dirty="0">
                <a:solidFill>
                  <a:srgbClr val="FFFFFF"/>
                </a:solidFill>
                <a:latin typeface="Verdana"/>
                <a:cs typeface="Verdana"/>
              </a:rPr>
              <a:t> </a:t>
            </a:r>
            <a:r>
              <a:rPr sz="800" spc="-10" dirty="0">
                <a:solidFill>
                  <a:srgbClr val="FFFFFF"/>
                </a:solidFill>
                <a:latin typeface="Verdana"/>
                <a:cs typeface="Verdana"/>
              </a:rPr>
              <a:t>API</a:t>
            </a:r>
            <a:r>
              <a:rPr sz="800" spc="-60" dirty="0">
                <a:solidFill>
                  <a:srgbClr val="FFFFFF"/>
                </a:solidFill>
                <a:latin typeface="Verdana"/>
                <a:cs typeface="Verdana"/>
              </a:rPr>
              <a:t> </a:t>
            </a:r>
            <a:r>
              <a:rPr sz="800" spc="-10" dirty="0">
                <a:solidFill>
                  <a:srgbClr val="FFFFFF"/>
                </a:solidFill>
                <a:latin typeface="Verdana"/>
                <a:cs typeface="Verdana"/>
              </a:rPr>
              <a:t>provides</a:t>
            </a:r>
            <a:r>
              <a:rPr sz="800" spc="-55" dirty="0">
                <a:solidFill>
                  <a:srgbClr val="FFFFFF"/>
                </a:solidFill>
                <a:latin typeface="Verdana"/>
                <a:cs typeface="Verdana"/>
              </a:rPr>
              <a:t> </a:t>
            </a:r>
            <a:r>
              <a:rPr sz="800" spc="-10" dirty="0">
                <a:solidFill>
                  <a:srgbClr val="FFFFFF"/>
                </a:solidFill>
                <a:latin typeface="Verdana"/>
                <a:cs typeface="Verdana"/>
              </a:rPr>
              <a:t>advanced </a:t>
            </a:r>
            <a:r>
              <a:rPr sz="800" dirty="0">
                <a:solidFill>
                  <a:srgbClr val="FFFFFF"/>
                </a:solidFill>
                <a:latin typeface="Verdana"/>
                <a:cs typeface="Verdana"/>
              </a:rPr>
              <a:t>language</a:t>
            </a:r>
            <a:r>
              <a:rPr sz="800" spc="-25" dirty="0">
                <a:solidFill>
                  <a:srgbClr val="FFFFFF"/>
                </a:solidFill>
                <a:latin typeface="Verdana"/>
                <a:cs typeface="Verdana"/>
              </a:rPr>
              <a:t> </a:t>
            </a:r>
            <a:r>
              <a:rPr sz="800" dirty="0">
                <a:solidFill>
                  <a:srgbClr val="FFFFFF"/>
                </a:solidFill>
                <a:latin typeface="Verdana"/>
                <a:cs typeface="Verdana"/>
              </a:rPr>
              <a:t>processing</a:t>
            </a:r>
            <a:r>
              <a:rPr sz="800" spc="-25" dirty="0">
                <a:solidFill>
                  <a:srgbClr val="FFFFFF"/>
                </a:solidFill>
                <a:latin typeface="Verdana"/>
                <a:cs typeface="Verdana"/>
              </a:rPr>
              <a:t> </a:t>
            </a:r>
            <a:r>
              <a:rPr sz="800" spc="-10" dirty="0">
                <a:solidFill>
                  <a:srgbClr val="FFFFFF"/>
                </a:solidFill>
                <a:latin typeface="Verdana"/>
                <a:cs typeface="Verdana"/>
              </a:rPr>
              <a:t>capabilities, </a:t>
            </a:r>
            <a:r>
              <a:rPr sz="800" dirty="0">
                <a:solidFill>
                  <a:srgbClr val="FFFFFF"/>
                </a:solidFill>
                <a:latin typeface="Verdana"/>
                <a:cs typeface="Verdana"/>
              </a:rPr>
              <a:t>enabling</a:t>
            </a:r>
            <a:r>
              <a:rPr sz="800" spc="-30" dirty="0">
                <a:solidFill>
                  <a:srgbClr val="FFFFFF"/>
                </a:solidFill>
                <a:latin typeface="Verdana"/>
                <a:cs typeface="Verdana"/>
              </a:rPr>
              <a:t> </a:t>
            </a:r>
            <a:r>
              <a:rPr sz="800" dirty="0">
                <a:solidFill>
                  <a:srgbClr val="FFFFFF"/>
                </a:solidFill>
                <a:latin typeface="Verdana"/>
                <a:cs typeface="Verdana"/>
              </a:rPr>
              <a:t>chatbots</a:t>
            </a:r>
            <a:r>
              <a:rPr sz="800" spc="-25" dirty="0">
                <a:solidFill>
                  <a:srgbClr val="FFFFFF"/>
                </a:solidFill>
                <a:latin typeface="Verdana"/>
                <a:cs typeface="Verdana"/>
              </a:rPr>
              <a:t> </a:t>
            </a:r>
            <a:r>
              <a:rPr sz="800" spc="-10" dirty="0">
                <a:solidFill>
                  <a:srgbClr val="FFFFFF"/>
                </a:solidFill>
                <a:latin typeface="Verdana"/>
                <a:cs typeface="Verdana"/>
              </a:rPr>
              <a:t>to</a:t>
            </a:r>
            <a:r>
              <a:rPr sz="800" spc="-30" dirty="0">
                <a:solidFill>
                  <a:srgbClr val="FFFFFF"/>
                </a:solidFill>
                <a:latin typeface="Verdana"/>
                <a:cs typeface="Verdana"/>
              </a:rPr>
              <a:t> </a:t>
            </a:r>
            <a:r>
              <a:rPr sz="800" spc="-10" dirty="0">
                <a:solidFill>
                  <a:srgbClr val="FFFFFF"/>
                </a:solidFill>
                <a:latin typeface="Verdana"/>
                <a:cs typeface="Verdana"/>
              </a:rPr>
              <a:t>understand </a:t>
            </a:r>
            <a:r>
              <a:rPr sz="800" dirty="0">
                <a:solidFill>
                  <a:srgbClr val="FFFFFF"/>
                </a:solidFill>
                <a:latin typeface="Verdana"/>
                <a:cs typeface="Verdana"/>
              </a:rPr>
              <a:t>and</a:t>
            </a:r>
            <a:r>
              <a:rPr sz="800" spc="-40" dirty="0">
                <a:solidFill>
                  <a:srgbClr val="FFFFFF"/>
                </a:solidFill>
                <a:latin typeface="Verdana"/>
                <a:cs typeface="Verdana"/>
              </a:rPr>
              <a:t> </a:t>
            </a:r>
            <a:r>
              <a:rPr sz="800" dirty="0">
                <a:solidFill>
                  <a:srgbClr val="FFFFFF"/>
                </a:solidFill>
                <a:latin typeface="Verdana"/>
                <a:cs typeface="Verdana"/>
              </a:rPr>
              <a:t>respond</a:t>
            </a:r>
            <a:r>
              <a:rPr sz="800" spc="-40" dirty="0">
                <a:solidFill>
                  <a:srgbClr val="FFFFFF"/>
                </a:solidFill>
                <a:latin typeface="Verdana"/>
                <a:cs typeface="Verdana"/>
              </a:rPr>
              <a:t> </a:t>
            </a:r>
            <a:r>
              <a:rPr sz="800" spc="-10" dirty="0">
                <a:solidFill>
                  <a:srgbClr val="FFFFFF"/>
                </a:solidFill>
                <a:latin typeface="Verdana"/>
                <a:cs typeface="Verdana"/>
              </a:rPr>
              <a:t>to</a:t>
            </a:r>
            <a:r>
              <a:rPr sz="800" spc="-35" dirty="0">
                <a:solidFill>
                  <a:srgbClr val="FFFFFF"/>
                </a:solidFill>
                <a:latin typeface="Verdana"/>
                <a:cs typeface="Verdana"/>
              </a:rPr>
              <a:t> </a:t>
            </a:r>
            <a:r>
              <a:rPr sz="800" spc="-20" dirty="0">
                <a:solidFill>
                  <a:srgbClr val="FFFFFF"/>
                </a:solidFill>
                <a:latin typeface="Verdana"/>
                <a:cs typeface="Verdana"/>
              </a:rPr>
              <a:t>user</a:t>
            </a:r>
            <a:r>
              <a:rPr sz="800" spc="-40" dirty="0">
                <a:solidFill>
                  <a:srgbClr val="FFFFFF"/>
                </a:solidFill>
                <a:latin typeface="Verdana"/>
                <a:cs typeface="Verdana"/>
              </a:rPr>
              <a:t> </a:t>
            </a:r>
            <a:r>
              <a:rPr sz="800" dirty="0">
                <a:solidFill>
                  <a:srgbClr val="FFFFFF"/>
                </a:solidFill>
                <a:latin typeface="Verdana"/>
                <a:cs typeface="Verdana"/>
              </a:rPr>
              <a:t>input</a:t>
            </a:r>
            <a:r>
              <a:rPr sz="800" spc="-40" dirty="0">
                <a:solidFill>
                  <a:srgbClr val="FFFFFF"/>
                </a:solidFill>
                <a:latin typeface="Verdana"/>
                <a:cs typeface="Verdana"/>
              </a:rPr>
              <a:t> </a:t>
            </a:r>
            <a:r>
              <a:rPr sz="800" spc="-20" dirty="0">
                <a:solidFill>
                  <a:srgbClr val="FFFFFF"/>
                </a:solidFill>
                <a:latin typeface="Verdana"/>
                <a:cs typeface="Verdana"/>
              </a:rPr>
              <a:t>more </a:t>
            </a:r>
            <a:r>
              <a:rPr sz="800" spc="-35" dirty="0">
                <a:solidFill>
                  <a:srgbClr val="FFFFFF"/>
                </a:solidFill>
                <a:latin typeface="Verdana"/>
                <a:cs typeface="Verdana"/>
              </a:rPr>
              <a:t>effectively.</a:t>
            </a:r>
            <a:r>
              <a:rPr sz="800" spc="-25" dirty="0">
                <a:solidFill>
                  <a:srgbClr val="FFFFFF"/>
                </a:solidFill>
                <a:latin typeface="Verdana"/>
                <a:cs typeface="Verdana"/>
              </a:rPr>
              <a:t> </a:t>
            </a:r>
            <a:r>
              <a:rPr sz="800" spc="-10" dirty="0">
                <a:solidFill>
                  <a:srgbClr val="FFFFFF"/>
                </a:solidFill>
                <a:latin typeface="Verdana"/>
                <a:cs typeface="Verdana"/>
              </a:rPr>
              <a:t>Integrating</a:t>
            </a:r>
            <a:r>
              <a:rPr sz="800" spc="-25" dirty="0">
                <a:solidFill>
                  <a:srgbClr val="FFFFFF"/>
                </a:solidFill>
                <a:latin typeface="Verdana"/>
                <a:cs typeface="Verdana"/>
              </a:rPr>
              <a:t> </a:t>
            </a:r>
            <a:r>
              <a:rPr sz="800" spc="-10" dirty="0">
                <a:solidFill>
                  <a:srgbClr val="FFFFFF"/>
                </a:solidFill>
                <a:latin typeface="Verdana"/>
                <a:cs typeface="Verdana"/>
              </a:rPr>
              <a:t>this</a:t>
            </a:r>
            <a:r>
              <a:rPr sz="800" spc="-25" dirty="0">
                <a:solidFill>
                  <a:srgbClr val="FFFFFF"/>
                </a:solidFill>
                <a:latin typeface="Verdana"/>
                <a:cs typeface="Verdana"/>
              </a:rPr>
              <a:t> </a:t>
            </a:r>
            <a:r>
              <a:rPr sz="800" spc="-10" dirty="0">
                <a:solidFill>
                  <a:srgbClr val="FFFFFF"/>
                </a:solidFill>
                <a:latin typeface="Verdana"/>
                <a:cs typeface="Verdana"/>
              </a:rPr>
              <a:t>API</a:t>
            </a:r>
            <a:r>
              <a:rPr sz="800" spc="-20" dirty="0">
                <a:solidFill>
                  <a:srgbClr val="FFFFFF"/>
                </a:solidFill>
                <a:latin typeface="Verdana"/>
                <a:cs typeface="Verdana"/>
              </a:rPr>
              <a:t> </a:t>
            </a:r>
            <a:r>
              <a:rPr sz="800" spc="-25" dirty="0">
                <a:solidFill>
                  <a:srgbClr val="FFFFFF"/>
                </a:solidFill>
                <a:latin typeface="Verdana"/>
                <a:cs typeface="Verdana"/>
              </a:rPr>
              <a:t>can elevate</a:t>
            </a:r>
            <a:r>
              <a:rPr sz="800" spc="-35" dirty="0">
                <a:solidFill>
                  <a:srgbClr val="FFFFFF"/>
                </a:solidFill>
                <a:latin typeface="Verdana"/>
                <a:cs typeface="Verdana"/>
              </a:rPr>
              <a:t> </a:t>
            </a:r>
            <a:r>
              <a:rPr sz="800" dirty="0">
                <a:solidFill>
                  <a:srgbClr val="FFFFFF"/>
                </a:solidFill>
                <a:latin typeface="Verdana"/>
                <a:cs typeface="Verdana"/>
              </a:rPr>
              <a:t>the</a:t>
            </a:r>
            <a:r>
              <a:rPr sz="800" spc="-35" dirty="0">
                <a:solidFill>
                  <a:srgbClr val="FFFFFF"/>
                </a:solidFill>
                <a:latin typeface="Verdana"/>
                <a:cs typeface="Verdana"/>
              </a:rPr>
              <a:t> </a:t>
            </a:r>
            <a:r>
              <a:rPr sz="800" dirty="0">
                <a:solidFill>
                  <a:srgbClr val="FFFFFF"/>
                </a:solidFill>
                <a:latin typeface="Verdana"/>
                <a:cs typeface="Verdana"/>
              </a:rPr>
              <a:t>intelligence</a:t>
            </a:r>
            <a:r>
              <a:rPr sz="800" spc="-35" dirty="0">
                <a:solidFill>
                  <a:srgbClr val="FFFFFF"/>
                </a:solidFill>
                <a:latin typeface="Verdana"/>
                <a:cs typeface="Verdana"/>
              </a:rPr>
              <a:t> </a:t>
            </a:r>
            <a:r>
              <a:rPr sz="800" spc="-25" dirty="0">
                <a:solidFill>
                  <a:srgbClr val="FFFFFF"/>
                </a:solidFill>
                <a:latin typeface="Verdana"/>
                <a:cs typeface="Verdana"/>
              </a:rPr>
              <a:t>and </a:t>
            </a:r>
            <a:r>
              <a:rPr sz="800" spc="-20" dirty="0">
                <a:solidFill>
                  <a:srgbClr val="FFFFFF"/>
                </a:solidFill>
                <a:latin typeface="Verdana"/>
                <a:cs typeface="Verdana"/>
              </a:rPr>
              <a:t>responsiveness</a:t>
            </a:r>
            <a:r>
              <a:rPr sz="800" spc="-25" dirty="0">
                <a:solidFill>
                  <a:srgbClr val="FFFFFF"/>
                </a:solidFill>
                <a:latin typeface="Verdana"/>
                <a:cs typeface="Verdana"/>
              </a:rPr>
              <a:t> </a:t>
            </a:r>
            <a:r>
              <a:rPr sz="800" spc="-10" dirty="0">
                <a:solidFill>
                  <a:srgbClr val="FFFFFF"/>
                </a:solidFill>
                <a:latin typeface="Verdana"/>
                <a:cs typeface="Verdana"/>
              </a:rPr>
              <a:t>of</a:t>
            </a:r>
            <a:r>
              <a:rPr sz="800" spc="-25" dirty="0">
                <a:solidFill>
                  <a:srgbClr val="FFFFFF"/>
                </a:solidFill>
                <a:latin typeface="Verdana"/>
                <a:cs typeface="Verdana"/>
              </a:rPr>
              <a:t> </a:t>
            </a:r>
            <a:r>
              <a:rPr sz="800" dirty="0">
                <a:solidFill>
                  <a:srgbClr val="FFFFFF"/>
                </a:solidFill>
                <a:latin typeface="Verdana"/>
                <a:cs typeface="Verdana"/>
              </a:rPr>
              <a:t>the</a:t>
            </a:r>
            <a:r>
              <a:rPr sz="800" spc="-20" dirty="0">
                <a:solidFill>
                  <a:srgbClr val="FFFFFF"/>
                </a:solidFill>
                <a:latin typeface="Verdana"/>
                <a:cs typeface="Verdana"/>
              </a:rPr>
              <a:t> </a:t>
            </a:r>
            <a:r>
              <a:rPr sz="800" spc="-10" dirty="0">
                <a:solidFill>
                  <a:srgbClr val="FFFFFF"/>
                </a:solidFill>
                <a:latin typeface="Verdana"/>
                <a:cs typeface="Verdana"/>
              </a:rPr>
              <a:t>chatbot.</a:t>
            </a:r>
            <a:endParaRPr sz="800">
              <a:latin typeface="Verdana"/>
              <a:cs typeface="Verdana"/>
            </a:endParaRPr>
          </a:p>
        </p:txBody>
      </p:sp>
      <p:pic>
        <p:nvPicPr>
          <p:cNvPr id="4" name="object 4"/>
          <p:cNvPicPr/>
          <p:nvPr/>
        </p:nvPicPr>
        <p:blipFill>
          <a:blip r:embed="rId2" cstate="print"/>
          <a:stretch>
            <a:fillRect/>
          </a:stretch>
        </p:blipFill>
        <p:spPr>
          <a:xfrm>
            <a:off x="1515" y="8"/>
            <a:ext cx="2922611" cy="32879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0267" y="448216"/>
            <a:ext cx="1404620" cy="404495"/>
          </a:xfrm>
          <a:prstGeom prst="rect">
            <a:avLst/>
          </a:prstGeom>
        </p:spPr>
        <p:txBody>
          <a:bodyPr vert="horz" wrap="square" lIns="0" tIns="12065" rIns="0" bIns="0" rtlCol="0">
            <a:spAutoFit/>
          </a:bodyPr>
          <a:lstStyle/>
          <a:p>
            <a:pPr marR="5080" algn="r">
              <a:lnSpc>
                <a:spcPts val="1495"/>
              </a:lnSpc>
              <a:spcBef>
                <a:spcPts val="95"/>
              </a:spcBef>
            </a:pPr>
            <a:r>
              <a:rPr sz="1250" dirty="0">
                <a:solidFill>
                  <a:srgbClr val="000000"/>
                </a:solidFill>
              </a:rPr>
              <a:t>Designing</a:t>
            </a:r>
            <a:r>
              <a:rPr sz="1250" spc="35" dirty="0">
                <a:solidFill>
                  <a:srgbClr val="000000"/>
                </a:solidFill>
              </a:rPr>
              <a:t> </a:t>
            </a:r>
            <a:r>
              <a:rPr sz="1250" dirty="0">
                <a:solidFill>
                  <a:srgbClr val="000000"/>
                </a:solidFill>
              </a:rPr>
              <a:t>the</a:t>
            </a:r>
            <a:r>
              <a:rPr sz="1250" spc="50" dirty="0">
                <a:solidFill>
                  <a:srgbClr val="000000"/>
                </a:solidFill>
              </a:rPr>
              <a:t> </a:t>
            </a:r>
            <a:r>
              <a:rPr sz="1250" spc="-20" dirty="0">
                <a:solidFill>
                  <a:srgbClr val="000000"/>
                </a:solidFill>
              </a:rPr>
              <a:t>User</a:t>
            </a:r>
            <a:endParaRPr sz="1250"/>
          </a:p>
          <a:p>
            <a:pPr marR="5080" algn="r">
              <a:lnSpc>
                <a:spcPts val="1495"/>
              </a:lnSpc>
            </a:pPr>
            <a:r>
              <a:rPr sz="1250" spc="-10" dirty="0">
                <a:solidFill>
                  <a:srgbClr val="000000"/>
                </a:solidFill>
              </a:rPr>
              <a:t>Interface</a:t>
            </a:r>
            <a:endParaRPr sz="1250"/>
          </a:p>
        </p:txBody>
      </p:sp>
      <p:sp>
        <p:nvSpPr>
          <p:cNvPr id="3" name="object 3"/>
          <p:cNvSpPr/>
          <p:nvPr/>
        </p:nvSpPr>
        <p:spPr>
          <a:xfrm>
            <a:off x="1400937" y="1206843"/>
            <a:ext cx="281940" cy="99060"/>
          </a:xfrm>
          <a:custGeom>
            <a:avLst/>
            <a:gdLst/>
            <a:ahLst/>
            <a:cxnLst/>
            <a:rect l="l" t="t" r="r" b="b"/>
            <a:pathLst>
              <a:path w="281939" h="99059">
                <a:moveTo>
                  <a:pt x="61963" y="14274"/>
                </a:moveTo>
                <a:lnTo>
                  <a:pt x="50558" y="14274"/>
                </a:lnTo>
                <a:lnTo>
                  <a:pt x="50520" y="64096"/>
                </a:lnTo>
                <a:lnTo>
                  <a:pt x="48907" y="69596"/>
                </a:lnTo>
                <a:lnTo>
                  <a:pt x="42316" y="76771"/>
                </a:lnTo>
                <a:lnTo>
                  <a:pt x="37465" y="78562"/>
                </a:lnTo>
                <a:lnTo>
                  <a:pt x="24676" y="78562"/>
                </a:lnTo>
                <a:lnTo>
                  <a:pt x="19837" y="76771"/>
                </a:lnTo>
                <a:lnTo>
                  <a:pt x="13258" y="69596"/>
                </a:lnTo>
                <a:lnTo>
                  <a:pt x="11645" y="64096"/>
                </a:lnTo>
                <a:lnTo>
                  <a:pt x="11607" y="14274"/>
                </a:lnTo>
                <a:lnTo>
                  <a:pt x="0" y="14274"/>
                </a:lnTo>
                <a:lnTo>
                  <a:pt x="0" y="56642"/>
                </a:lnTo>
                <a:lnTo>
                  <a:pt x="520" y="64096"/>
                </a:lnTo>
                <a:lnTo>
                  <a:pt x="21336" y="89382"/>
                </a:lnTo>
                <a:lnTo>
                  <a:pt x="40728" y="89382"/>
                </a:lnTo>
                <a:lnTo>
                  <a:pt x="61963" y="56642"/>
                </a:lnTo>
                <a:lnTo>
                  <a:pt x="61963" y="14274"/>
                </a:lnTo>
                <a:close/>
              </a:path>
              <a:path w="281939" h="99059">
                <a:moveTo>
                  <a:pt x="91795" y="14274"/>
                </a:moveTo>
                <a:lnTo>
                  <a:pt x="80187" y="14274"/>
                </a:lnTo>
                <a:lnTo>
                  <a:pt x="80187" y="88760"/>
                </a:lnTo>
                <a:lnTo>
                  <a:pt x="91795" y="88760"/>
                </a:lnTo>
                <a:lnTo>
                  <a:pt x="91795" y="14274"/>
                </a:lnTo>
                <a:close/>
              </a:path>
              <a:path w="281939" h="99059">
                <a:moveTo>
                  <a:pt x="141287" y="0"/>
                </a:moveTo>
                <a:lnTo>
                  <a:pt x="130314" y="0"/>
                </a:lnTo>
                <a:lnTo>
                  <a:pt x="95707" y="98831"/>
                </a:lnTo>
                <a:lnTo>
                  <a:pt x="106654" y="98831"/>
                </a:lnTo>
                <a:lnTo>
                  <a:pt x="141287" y="0"/>
                </a:lnTo>
                <a:close/>
              </a:path>
              <a:path w="281939" h="99059">
                <a:moveTo>
                  <a:pt x="205536" y="14274"/>
                </a:moveTo>
                <a:lnTo>
                  <a:pt x="194119" y="14274"/>
                </a:lnTo>
                <a:lnTo>
                  <a:pt x="194094" y="64096"/>
                </a:lnTo>
                <a:lnTo>
                  <a:pt x="192468" y="69596"/>
                </a:lnTo>
                <a:lnTo>
                  <a:pt x="185889" y="76771"/>
                </a:lnTo>
                <a:lnTo>
                  <a:pt x="181025" y="78562"/>
                </a:lnTo>
                <a:lnTo>
                  <a:pt x="168236" y="78562"/>
                </a:lnTo>
                <a:lnTo>
                  <a:pt x="163410" y="76771"/>
                </a:lnTo>
                <a:lnTo>
                  <a:pt x="156806" y="69596"/>
                </a:lnTo>
                <a:lnTo>
                  <a:pt x="155206" y="64096"/>
                </a:lnTo>
                <a:lnTo>
                  <a:pt x="155168" y="14274"/>
                </a:lnTo>
                <a:lnTo>
                  <a:pt x="143573" y="14274"/>
                </a:lnTo>
                <a:lnTo>
                  <a:pt x="143573" y="56642"/>
                </a:lnTo>
                <a:lnTo>
                  <a:pt x="144081" y="64096"/>
                </a:lnTo>
                <a:lnTo>
                  <a:pt x="164909" y="89382"/>
                </a:lnTo>
                <a:lnTo>
                  <a:pt x="184289" y="89382"/>
                </a:lnTo>
                <a:lnTo>
                  <a:pt x="191871" y="86563"/>
                </a:lnTo>
                <a:lnTo>
                  <a:pt x="197345" y="80924"/>
                </a:lnTo>
                <a:lnTo>
                  <a:pt x="199136" y="78562"/>
                </a:lnTo>
                <a:lnTo>
                  <a:pt x="200914" y="76225"/>
                </a:lnTo>
                <a:lnTo>
                  <a:pt x="203479" y="70612"/>
                </a:lnTo>
                <a:lnTo>
                  <a:pt x="205016" y="64096"/>
                </a:lnTo>
                <a:lnTo>
                  <a:pt x="205536" y="56642"/>
                </a:lnTo>
                <a:lnTo>
                  <a:pt x="205536" y="14274"/>
                </a:lnTo>
                <a:close/>
              </a:path>
              <a:path w="281939" h="99059">
                <a:moveTo>
                  <a:pt x="281686" y="88760"/>
                </a:moveTo>
                <a:lnTo>
                  <a:pt x="259956" y="59258"/>
                </a:lnTo>
                <a:lnTo>
                  <a:pt x="253365" y="50304"/>
                </a:lnTo>
                <a:lnTo>
                  <a:pt x="259765" y="41579"/>
                </a:lnTo>
                <a:lnTo>
                  <a:pt x="279806" y="14274"/>
                </a:lnTo>
                <a:lnTo>
                  <a:pt x="266573" y="14274"/>
                </a:lnTo>
                <a:lnTo>
                  <a:pt x="246532" y="41579"/>
                </a:lnTo>
                <a:lnTo>
                  <a:pt x="226377" y="14274"/>
                </a:lnTo>
                <a:lnTo>
                  <a:pt x="212661" y="14274"/>
                </a:lnTo>
                <a:lnTo>
                  <a:pt x="239204" y="50507"/>
                </a:lnTo>
                <a:lnTo>
                  <a:pt x="210972" y="88760"/>
                </a:lnTo>
                <a:lnTo>
                  <a:pt x="224688" y="88760"/>
                </a:lnTo>
                <a:lnTo>
                  <a:pt x="246214" y="59258"/>
                </a:lnTo>
                <a:lnTo>
                  <a:pt x="267881" y="88760"/>
                </a:lnTo>
                <a:lnTo>
                  <a:pt x="281686" y="88760"/>
                </a:lnTo>
                <a:close/>
              </a:path>
            </a:pathLst>
          </a:custGeom>
          <a:solidFill>
            <a:srgbClr val="000000"/>
          </a:solidFill>
        </p:spPr>
        <p:txBody>
          <a:bodyPr wrap="square" lIns="0" tIns="0" rIns="0" bIns="0" rtlCol="0"/>
          <a:lstStyle/>
          <a:p>
            <a:endParaRPr/>
          </a:p>
        </p:txBody>
      </p:sp>
      <p:sp>
        <p:nvSpPr>
          <p:cNvPr id="4" name="object 4"/>
          <p:cNvSpPr txBox="1"/>
          <p:nvPr/>
        </p:nvSpPr>
        <p:spPr>
          <a:xfrm>
            <a:off x="565504" y="882870"/>
            <a:ext cx="1899285" cy="1009015"/>
          </a:xfrm>
          <a:prstGeom prst="rect">
            <a:avLst/>
          </a:prstGeom>
        </p:spPr>
        <p:txBody>
          <a:bodyPr vert="horz" wrap="square" lIns="0" tIns="12065" rIns="0" bIns="0" rtlCol="0">
            <a:spAutoFit/>
          </a:bodyPr>
          <a:lstStyle/>
          <a:p>
            <a:pPr marL="252095" marR="5080" indent="-240029" algn="r">
              <a:lnSpc>
                <a:spcPct val="115399"/>
              </a:lnSpc>
              <a:spcBef>
                <a:spcPts val="95"/>
              </a:spcBef>
              <a:tabLst>
                <a:tab pos="1138555" algn="l"/>
              </a:tabLst>
            </a:pPr>
            <a:r>
              <a:rPr sz="800" dirty="0">
                <a:latin typeface="Verdana"/>
                <a:cs typeface="Verdana"/>
              </a:rPr>
              <a:t>A</a:t>
            </a:r>
            <a:r>
              <a:rPr sz="800" spc="-45" dirty="0">
                <a:latin typeface="Verdana"/>
                <a:cs typeface="Verdana"/>
              </a:rPr>
              <a:t> </a:t>
            </a:r>
            <a:r>
              <a:rPr sz="800" spc="-20" dirty="0">
                <a:latin typeface="Verdana"/>
                <a:cs typeface="Verdana"/>
              </a:rPr>
              <a:t>well-</a:t>
            </a:r>
            <a:r>
              <a:rPr sz="800" spc="-10" dirty="0">
                <a:latin typeface="Verdana"/>
                <a:cs typeface="Verdana"/>
              </a:rPr>
              <a:t>crafted</a:t>
            </a:r>
            <a:r>
              <a:rPr sz="800" spc="-40" dirty="0">
                <a:latin typeface="Verdana"/>
                <a:cs typeface="Verdana"/>
              </a:rPr>
              <a:t> </a:t>
            </a:r>
            <a:r>
              <a:rPr sz="800" spc="-10" dirty="0">
                <a:latin typeface="Verdana"/>
                <a:cs typeface="Verdana"/>
              </a:rPr>
              <a:t>user</a:t>
            </a:r>
            <a:r>
              <a:rPr sz="800" spc="-45" dirty="0">
                <a:latin typeface="Verdana"/>
                <a:cs typeface="Verdana"/>
              </a:rPr>
              <a:t> </a:t>
            </a:r>
            <a:r>
              <a:rPr sz="800" spc="-10" dirty="0">
                <a:latin typeface="Verdana"/>
                <a:cs typeface="Verdana"/>
              </a:rPr>
              <a:t>interface</a:t>
            </a:r>
            <a:r>
              <a:rPr sz="800" spc="-40" dirty="0">
                <a:latin typeface="Verdana"/>
                <a:cs typeface="Verdana"/>
              </a:rPr>
              <a:t> </a:t>
            </a:r>
            <a:r>
              <a:rPr sz="800" spc="-25" dirty="0">
                <a:latin typeface="Verdana"/>
                <a:cs typeface="Verdana"/>
              </a:rPr>
              <a:t>is</a:t>
            </a:r>
            <a:r>
              <a:rPr sz="800" spc="-45" dirty="0">
                <a:latin typeface="Verdana"/>
                <a:cs typeface="Verdana"/>
              </a:rPr>
              <a:t> </a:t>
            </a:r>
            <a:r>
              <a:rPr sz="800" spc="-10" dirty="0">
                <a:latin typeface="Verdana"/>
                <a:cs typeface="Verdana"/>
              </a:rPr>
              <a:t>crucial </a:t>
            </a:r>
            <a:r>
              <a:rPr sz="800" spc="-25" dirty="0">
                <a:latin typeface="Verdana"/>
                <a:cs typeface="Verdana"/>
              </a:rPr>
              <a:t>for</a:t>
            </a:r>
            <a:r>
              <a:rPr sz="800" spc="-35" dirty="0">
                <a:latin typeface="Verdana"/>
                <a:cs typeface="Verdana"/>
              </a:rPr>
              <a:t> </a:t>
            </a:r>
            <a:r>
              <a:rPr sz="800" spc="-10" dirty="0">
                <a:latin typeface="Verdana"/>
                <a:cs typeface="Verdana"/>
              </a:rPr>
              <a:t>a</a:t>
            </a:r>
            <a:r>
              <a:rPr sz="800" spc="-30" dirty="0">
                <a:latin typeface="Verdana"/>
                <a:cs typeface="Verdana"/>
              </a:rPr>
              <a:t> </a:t>
            </a:r>
            <a:r>
              <a:rPr sz="800" spc="-10" dirty="0">
                <a:latin typeface="Verdana"/>
                <a:cs typeface="Verdana"/>
              </a:rPr>
              <a:t>chatbot's</a:t>
            </a:r>
            <a:r>
              <a:rPr sz="800" spc="-35" dirty="0">
                <a:latin typeface="Verdana"/>
                <a:cs typeface="Verdana"/>
              </a:rPr>
              <a:t> </a:t>
            </a:r>
            <a:r>
              <a:rPr sz="800" spc="-25" dirty="0">
                <a:latin typeface="Verdana"/>
                <a:cs typeface="Verdana"/>
              </a:rPr>
              <a:t>success.</a:t>
            </a:r>
            <a:r>
              <a:rPr sz="800" spc="-30" dirty="0">
                <a:latin typeface="Verdana"/>
                <a:cs typeface="Verdana"/>
              </a:rPr>
              <a:t> </a:t>
            </a:r>
            <a:r>
              <a:rPr sz="800" spc="-10" dirty="0">
                <a:latin typeface="Verdana"/>
                <a:cs typeface="Verdana"/>
              </a:rPr>
              <a:t>Through thoughtful</a:t>
            </a:r>
            <a:r>
              <a:rPr sz="800" dirty="0">
                <a:latin typeface="Verdana"/>
                <a:cs typeface="Verdana"/>
              </a:rPr>
              <a:t>	</a:t>
            </a:r>
            <a:r>
              <a:rPr sz="800" spc="-10" dirty="0">
                <a:latin typeface="Verdana"/>
                <a:cs typeface="Verdana"/>
              </a:rPr>
              <a:t>design,</a:t>
            </a:r>
            <a:r>
              <a:rPr sz="800" spc="-60" dirty="0">
                <a:latin typeface="Verdana"/>
                <a:cs typeface="Verdana"/>
              </a:rPr>
              <a:t> </a:t>
            </a:r>
            <a:r>
              <a:rPr sz="800" dirty="0">
                <a:latin typeface="Verdana"/>
                <a:cs typeface="Verdana"/>
              </a:rPr>
              <a:t>we</a:t>
            </a:r>
            <a:r>
              <a:rPr sz="800" spc="-60" dirty="0">
                <a:latin typeface="Verdana"/>
                <a:cs typeface="Verdana"/>
              </a:rPr>
              <a:t> </a:t>
            </a:r>
            <a:r>
              <a:rPr sz="800" spc="-25" dirty="0">
                <a:latin typeface="Verdana"/>
                <a:cs typeface="Verdana"/>
              </a:rPr>
              <a:t>can </a:t>
            </a:r>
            <a:r>
              <a:rPr sz="800" spc="-10" dirty="0">
                <a:latin typeface="Verdana"/>
                <a:cs typeface="Verdana"/>
              </a:rPr>
              <a:t>ensure</a:t>
            </a:r>
            <a:r>
              <a:rPr sz="800" spc="-35" dirty="0">
                <a:latin typeface="Verdana"/>
                <a:cs typeface="Verdana"/>
              </a:rPr>
              <a:t> </a:t>
            </a:r>
            <a:r>
              <a:rPr sz="800" spc="-10" dirty="0">
                <a:latin typeface="Verdana"/>
                <a:cs typeface="Verdana"/>
              </a:rPr>
              <a:t>a</a:t>
            </a:r>
            <a:r>
              <a:rPr sz="800" spc="-35" dirty="0">
                <a:latin typeface="Verdana"/>
                <a:cs typeface="Verdana"/>
              </a:rPr>
              <a:t> </a:t>
            </a:r>
            <a:r>
              <a:rPr sz="800" spc="-30" dirty="0">
                <a:latin typeface="Verdana"/>
                <a:cs typeface="Verdana"/>
              </a:rPr>
              <a:t>visually</a:t>
            </a:r>
            <a:r>
              <a:rPr sz="800" spc="-35" dirty="0">
                <a:latin typeface="Verdana"/>
                <a:cs typeface="Verdana"/>
              </a:rPr>
              <a:t> </a:t>
            </a:r>
            <a:r>
              <a:rPr sz="800" dirty="0">
                <a:latin typeface="Verdana"/>
                <a:cs typeface="Verdana"/>
              </a:rPr>
              <a:t>appealing</a:t>
            </a:r>
            <a:r>
              <a:rPr sz="800" spc="-35" dirty="0">
                <a:latin typeface="Verdana"/>
                <a:cs typeface="Verdana"/>
              </a:rPr>
              <a:t> </a:t>
            </a:r>
            <a:r>
              <a:rPr sz="800" spc="-25" dirty="0">
                <a:latin typeface="Verdana"/>
                <a:cs typeface="Verdana"/>
              </a:rPr>
              <a:t>and </a:t>
            </a:r>
            <a:r>
              <a:rPr sz="800" spc="-10" dirty="0">
                <a:latin typeface="Verdana"/>
                <a:cs typeface="Verdana"/>
              </a:rPr>
              <a:t>intuitive</a:t>
            </a:r>
            <a:r>
              <a:rPr sz="800" spc="-40" dirty="0">
                <a:latin typeface="Verdana"/>
                <a:cs typeface="Verdana"/>
              </a:rPr>
              <a:t> </a:t>
            </a:r>
            <a:r>
              <a:rPr sz="800" spc="-10" dirty="0">
                <a:latin typeface="Verdana"/>
                <a:cs typeface="Verdana"/>
              </a:rPr>
              <a:t>experience</a:t>
            </a:r>
            <a:r>
              <a:rPr sz="800" spc="-45" dirty="0">
                <a:latin typeface="Verdana"/>
                <a:cs typeface="Verdana"/>
              </a:rPr>
              <a:t> </a:t>
            </a:r>
            <a:r>
              <a:rPr sz="800" spc="-25" dirty="0">
                <a:latin typeface="Verdana"/>
                <a:cs typeface="Verdana"/>
              </a:rPr>
              <a:t>for</a:t>
            </a:r>
            <a:r>
              <a:rPr sz="800" spc="-40" dirty="0">
                <a:latin typeface="Verdana"/>
                <a:cs typeface="Verdana"/>
              </a:rPr>
              <a:t> </a:t>
            </a:r>
            <a:r>
              <a:rPr sz="800" spc="-10" dirty="0">
                <a:latin typeface="Verdana"/>
                <a:cs typeface="Verdana"/>
              </a:rPr>
              <a:t>users, </a:t>
            </a:r>
            <a:r>
              <a:rPr sz="800" dirty="0">
                <a:latin typeface="Verdana"/>
                <a:cs typeface="Verdana"/>
              </a:rPr>
              <a:t>enhancing</a:t>
            </a:r>
            <a:r>
              <a:rPr sz="800" spc="70" dirty="0">
                <a:latin typeface="Verdana"/>
                <a:cs typeface="Verdana"/>
              </a:rPr>
              <a:t> </a:t>
            </a:r>
            <a:r>
              <a:rPr sz="800" dirty="0">
                <a:latin typeface="Verdana"/>
                <a:cs typeface="Verdana"/>
              </a:rPr>
              <a:t>engagement</a:t>
            </a:r>
            <a:r>
              <a:rPr sz="800" spc="70" dirty="0">
                <a:latin typeface="Verdana"/>
                <a:cs typeface="Verdana"/>
              </a:rPr>
              <a:t> </a:t>
            </a:r>
            <a:r>
              <a:rPr sz="800" spc="-25" dirty="0">
                <a:latin typeface="Verdana"/>
                <a:cs typeface="Verdana"/>
              </a:rPr>
              <a:t>and</a:t>
            </a:r>
            <a:endParaRPr sz="800">
              <a:latin typeface="Verdana"/>
              <a:cs typeface="Verdana"/>
            </a:endParaRPr>
          </a:p>
          <a:p>
            <a:pPr marR="5080" algn="r">
              <a:lnSpc>
                <a:spcPct val="100000"/>
              </a:lnSpc>
              <a:spcBef>
                <a:spcPts val="145"/>
              </a:spcBef>
            </a:pPr>
            <a:r>
              <a:rPr sz="800" spc="-10" dirty="0">
                <a:latin typeface="Verdana"/>
                <a:cs typeface="Verdana"/>
              </a:rPr>
              <a:t>satisfaction.</a:t>
            </a:r>
            <a:endParaRPr sz="800">
              <a:latin typeface="Verdana"/>
              <a:cs typeface="Verdana"/>
            </a:endParaRPr>
          </a:p>
        </p:txBody>
      </p:sp>
      <p:pic>
        <p:nvPicPr>
          <p:cNvPr id="5" name="object 5"/>
          <p:cNvPicPr/>
          <p:nvPr/>
        </p:nvPicPr>
        <p:blipFill>
          <a:blip r:embed="rId2" cstate="print"/>
          <a:stretch>
            <a:fillRect/>
          </a:stretch>
        </p:blipFill>
        <p:spPr>
          <a:xfrm>
            <a:off x="2924126" y="5"/>
            <a:ext cx="2922568" cy="32878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800"/>
              </a:lnSpc>
              <a:spcBef>
                <a:spcPts val="100"/>
              </a:spcBef>
            </a:pPr>
            <a:r>
              <a:rPr dirty="0"/>
              <a:t>Ensuring</a:t>
            </a:r>
            <a:r>
              <a:rPr spc="135" dirty="0"/>
              <a:t> </a:t>
            </a:r>
            <a:r>
              <a:rPr spc="-10" dirty="0"/>
              <a:t>Seamless </a:t>
            </a:r>
            <a:r>
              <a:rPr spc="45" dirty="0">
                <a:latin typeface="Calibri"/>
                <a:cs typeface="Calibri"/>
              </a:rPr>
              <a:t>Integration</a:t>
            </a:r>
          </a:p>
        </p:txBody>
      </p:sp>
      <p:sp>
        <p:nvSpPr>
          <p:cNvPr id="3" name="object 3"/>
          <p:cNvSpPr txBox="1"/>
          <p:nvPr/>
        </p:nvSpPr>
        <p:spPr>
          <a:xfrm>
            <a:off x="3528590" y="999529"/>
            <a:ext cx="1706880" cy="876935"/>
          </a:xfrm>
          <a:prstGeom prst="rect">
            <a:avLst/>
          </a:prstGeom>
        </p:spPr>
        <p:txBody>
          <a:bodyPr vert="horz" wrap="square" lIns="0" tIns="11430" rIns="0" bIns="0" rtlCol="0">
            <a:spAutoFit/>
          </a:bodyPr>
          <a:lstStyle/>
          <a:p>
            <a:pPr marL="12700" marR="5080">
              <a:lnSpc>
                <a:spcPct val="100000"/>
              </a:lnSpc>
              <a:spcBef>
                <a:spcPts val="90"/>
              </a:spcBef>
            </a:pPr>
            <a:r>
              <a:rPr sz="800" spc="-20" dirty="0">
                <a:solidFill>
                  <a:srgbClr val="FFFFFF"/>
                </a:solidFill>
                <a:latin typeface="Verdana"/>
                <a:cs typeface="Verdana"/>
              </a:rPr>
              <a:t>Seamless</a:t>
            </a:r>
            <a:r>
              <a:rPr sz="800" spc="10" dirty="0">
                <a:solidFill>
                  <a:srgbClr val="FFFFFF"/>
                </a:solidFill>
                <a:latin typeface="Verdana"/>
                <a:cs typeface="Verdana"/>
              </a:rPr>
              <a:t> </a:t>
            </a:r>
            <a:r>
              <a:rPr sz="800" spc="-10" dirty="0">
                <a:solidFill>
                  <a:srgbClr val="FFFFFF"/>
                </a:solidFill>
                <a:latin typeface="Verdana"/>
                <a:cs typeface="Verdana"/>
              </a:rPr>
              <a:t>integration</a:t>
            </a:r>
            <a:r>
              <a:rPr sz="800" spc="10" dirty="0">
                <a:solidFill>
                  <a:srgbClr val="FFFFFF"/>
                </a:solidFill>
                <a:latin typeface="Verdana"/>
                <a:cs typeface="Verdana"/>
              </a:rPr>
              <a:t> </a:t>
            </a:r>
            <a:r>
              <a:rPr sz="800" spc="-10" dirty="0">
                <a:solidFill>
                  <a:srgbClr val="FFFFFF"/>
                </a:solidFill>
                <a:latin typeface="Verdana"/>
                <a:cs typeface="Verdana"/>
              </a:rPr>
              <a:t>across platforms</a:t>
            </a:r>
            <a:r>
              <a:rPr sz="800" spc="-35" dirty="0">
                <a:solidFill>
                  <a:srgbClr val="FFFFFF"/>
                </a:solidFill>
                <a:latin typeface="Verdana"/>
                <a:cs typeface="Verdana"/>
              </a:rPr>
              <a:t> </a:t>
            </a:r>
            <a:r>
              <a:rPr sz="800" dirty="0">
                <a:solidFill>
                  <a:srgbClr val="FFFFFF"/>
                </a:solidFill>
                <a:latin typeface="Verdana"/>
                <a:cs typeface="Verdana"/>
              </a:rPr>
              <a:t>and</a:t>
            </a:r>
            <a:r>
              <a:rPr sz="800" spc="-35" dirty="0">
                <a:solidFill>
                  <a:srgbClr val="FFFFFF"/>
                </a:solidFill>
                <a:latin typeface="Verdana"/>
                <a:cs typeface="Verdana"/>
              </a:rPr>
              <a:t> </a:t>
            </a:r>
            <a:r>
              <a:rPr sz="800" spc="-10" dirty="0">
                <a:solidFill>
                  <a:srgbClr val="FFFFFF"/>
                </a:solidFill>
                <a:latin typeface="Verdana"/>
                <a:cs typeface="Verdana"/>
              </a:rPr>
              <a:t>devices</a:t>
            </a:r>
            <a:r>
              <a:rPr sz="800" spc="-35" dirty="0">
                <a:solidFill>
                  <a:srgbClr val="FFFFFF"/>
                </a:solidFill>
                <a:latin typeface="Verdana"/>
                <a:cs typeface="Verdana"/>
              </a:rPr>
              <a:t> </a:t>
            </a:r>
            <a:r>
              <a:rPr sz="800" spc="-25" dirty="0">
                <a:solidFill>
                  <a:srgbClr val="FFFFFF"/>
                </a:solidFill>
                <a:latin typeface="Verdana"/>
                <a:cs typeface="Verdana"/>
              </a:rPr>
              <a:t>is</a:t>
            </a:r>
            <a:r>
              <a:rPr sz="800" spc="-35" dirty="0">
                <a:solidFill>
                  <a:srgbClr val="FFFFFF"/>
                </a:solidFill>
                <a:latin typeface="Verdana"/>
                <a:cs typeface="Verdana"/>
              </a:rPr>
              <a:t> </a:t>
            </a:r>
            <a:r>
              <a:rPr sz="800" spc="-10" dirty="0">
                <a:solidFill>
                  <a:srgbClr val="FFFFFF"/>
                </a:solidFill>
                <a:latin typeface="Verdana"/>
                <a:cs typeface="Verdana"/>
              </a:rPr>
              <a:t>essential </a:t>
            </a:r>
            <a:r>
              <a:rPr sz="800" spc="-25" dirty="0">
                <a:solidFill>
                  <a:srgbClr val="FFFFFF"/>
                </a:solidFill>
                <a:latin typeface="Verdana"/>
                <a:cs typeface="Verdana"/>
              </a:rPr>
              <a:t>for</a:t>
            </a:r>
            <a:r>
              <a:rPr sz="800" spc="-55" dirty="0">
                <a:solidFill>
                  <a:srgbClr val="FFFFFF"/>
                </a:solidFill>
                <a:latin typeface="Verdana"/>
                <a:cs typeface="Verdana"/>
              </a:rPr>
              <a:t> </a:t>
            </a:r>
            <a:r>
              <a:rPr sz="800" dirty="0">
                <a:solidFill>
                  <a:srgbClr val="FFFFFF"/>
                </a:solidFill>
                <a:latin typeface="Verdana"/>
                <a:cs typeface="Verdana"/>
              </a:rPr>
              <a:t>maximizing</a:t>
            </a:r>
            <a:r>
              <a:rPr sz="800" spc="-55" dirty="0">
                <a:solidFill>
                  <a:srgbClr val="FFFFFF"/>
                </a:solidFill>
                <a:latin typeface="Verdana"/>
                <a:cs typeface="Verdana"/>
              </a:rPr>
              <a:t> </a:t>
            </a:r>
            <a:r>
              <a:rPr sz="800" spc="-10" dirty="0">
                <a:solidFill>
                  <a:srgbClr val="FFFFFF"/>
                </a:solidFill>
                <a:latin typeface="Verdana"/>
                <a:cs typeface="Verdana"/>
              </a:rPr>
              <a:t>user</a:t>
            </a:r>
            <a:r>
              <a:rPr sz="800" spc="-55" dirty="0">
                <a:solidFill>
                  <a:srgbClr val="FFFFFF"/>
                </a:solidFill>
                <a:latin typeface="Verdana"/>
                <a:cs typeface="Verdana"/>
              </a:rPr>
              <a:t> </a:t>
            </a:r>
            <a:r>
              <a:rPr sz="800" spc="-10" dirty="0">
                <a:solidFill>
                  <a:srgbClr val="FFFFFF"/>
                </a:solidFill>
                <a:latin typeface="Verdana"/>
                <a:cs typeface="Verdana"/>
              </a:rPr>
              <a:t>accessibility. </a:t>
            </a:r>
            <a:r>
              <a:rPr sz="800" dirty="0">
                <a:solidFill>
                  <a:srgbClr val="FFFFFF"/>
                </a:solidFill>
                <a:latin typeface="Verdana"/>
                <a:cs typeface="Verdana"/>
              </a:rPr>
              <a:t>By</a:t>
            </a:r>
            <a:r>
              <a:rPr sz="800" spc="-30" dirty="0">
                <a:solidFill>
                  <a:srgbClr val="FFFFFF"/>
                </a:solidFill>
                <a:latin typeface="Verdana"/>
                <a:cs typeface="Verdana"/>
              </a:rPr>
              <a:t> </a:t>
            </a:r>
            <a:r>
              <a:rPr sz="800" dirty="0">
                <a:solidFill>
                  <a:srgbClr val="FFFFFF"/>
                </a:solidFill>
                <a:latin typeface="Verdana"/>
                <a:cs typeface="Verdana"/>
              </a:rPr>
              <a:t>optimizing</a:t>
            </a:r>
            <a:r>
              <a:rPr sz="800" spc="-30" dirty="0">
                <a:solidFill>
                  <a:srgbClr val="FFFFFF"/>
                </a:solidFill>
                <a:latin typeface="Verdana"/>
                <a:cs typeface="Verdana"/>
              </a:rPr>
              <a:t> </a:t>
            </a:r>
            <a:r>
              <a:rPr sz="800" dirty="0">
                <a:solidFill>
                  <a:srgbClr val="FFFFFF"/>
                </a:solidFill>
                <a:latin typeface="Verdana"/>
                <a:cs typeface="Verdana"/>
              </a:rPr>
              <a:t>compatibility</a:t>
            </a:r>
            <a:r>
              <a:rPr sz="800" spc="-30" dirty="0">
                <a:solidFill>
                  <a:srgbClr val="FFFFFF"/>
                </a:solidFill>
                <a:latin typeface="Verdana"/>
                <a:cs typeface="Verdana"/>
              </a:rPr>
              <a:t> </a:t>
            </a:r>
            <a:r>
              <a:rPr sz="800" spc="-25" dirty="0">
                <a:solidFill>
                  <a:srgbClr val="FFFFFF"/>
                </a:solidFill>
                <a:latin typeface="Verdana"/>
                <a:cs typeface="Verdana"/>
              </a:rPr>
              <a:t>and responsiveness, </a:t>
            </a:r>
            <a:r>
              <a:rPr sz="800" dirty="0">
                <a:solidFill>
                  <a:srgbClr val="FFFFFF"/>
                </a:solidFill>
                <a:latin typeface="Verdana"/>
                <a:cs typeface="Verdana"/>
              </a:rPr>
              <a:t>we</a:t>
            </a:r>
            <a:r>
              <a:rPr sz="800" spc="-25" dirty="0">
                <a:solidFill>
                  <a:srgbClr val="FFFFFF"/>
                </a:solidFill>
                <a:latin typeface="Verdana"/>
                <a:cs typeface="Verdana"/>
              </a:rPr>
              <a:t> </a:t>
            </a:r>
            <a:r>
              <a:rPr sz="800" dirty="0">
                <a:solidFill>
                  <a:srgbClr val="FFFFFF"/>
                </a:solidFill>
                <a:latin typeface="Verdana"/>
                <a:cs typeface="Verdana"/>
              </a:rPr>
              <a:t>can</a:t>
            </a:r>
            <a:r>
              <a:rPr sz="800" spc="-25" dirty="0">
                <a:solidFill>
                  <a:srgbClr val="FFFFFF"/>
                </a:solidFill>
                <a:latin typeface="Verdana"/>
                <a:cs typeface="Verdana"/>
              </a:rPr>
              <a:t> </a:t>
            </a:r>
            <a:r>
              <a:rPr sz="800" spc="-10" dirty="0">
                <a:solidFill>
                  <a:srgbClr val="FFFFFF"/>
                </a:solidFill>
                <a:latin typeface="Verdana"/>
                <a:cs typeface="Verdana"/>
              </a:rPr>
              <a:t>ensure</a:t>
            </a:r>
            <a:r>
              <a:rPr sz="800" spc="-20" dirty="0">
                <a:solidFill>
                  <a:srgbClr val="FFFFFF"/>
                </a:solidFill>
                <a:latin typeface="Verdana"/>
                <a:cs typeface="Verdana"/>
              </a:rPr>
              <a:t> </a:t>
            </a:r>
            <a:r>
              <a:rPr sz="800" spc="-50" dirty="0">
                <a:solidFill>
                  <a:srgbClr val="FFFFFF"/>
                </a:solidFill>
                <a:latin typeface="Verdana"/>
                <a:cs typeface="Verdana"/>
              </a:rPr>
              <a:t>a </a:t>
            </a:r>
            <a:r>
              <a:rPr sz="800" spc="-10" dirty="0">
                <a:solidFill>
                  <a:srgbClr val="FFFFFF"/>
                </a:solidFill>
                <a:latin typeface="Verdana"/>
                <a:cs typeface="Verdana"/>
              </a:rPr>
              <a:t>consistent</a:t>
            </a:r>
            <a:r>
              <a:rPr sz="800" spc="10" dirty="0">
                <a:solidFill>
                  <a:srgbClr val="FFFFFF"/>
                </a:solidFill>
                <a:latin typeface="Verdana"/>
                <a:cs typeface="Verdana"/>
              </a:rPr>
              <a:t> </a:t>
            </a:r>
            <a:r>
              <a:rPr sz="800" dirty="0">
                <a:solidFill>
                  <a:srgbClr val="FFFFFF"/>
                </a:solidFill>
                <a:latin typeface="Verdana"/>
                <a:cs typeface="Verdana"/>
              </a:rPr>
              <a:t>and</a:t>
            </a:r>
            <a:r>
              <a:rPr sz="800" spc="15" dirty="0">
                <a:solidFill>
                  <a:srgbClr val="FFFFFF"/>
                </a:solidFill>
                <a:latin typeface="Verdana"/>
                <a:cs typeface="Verdana"/>
              </a:rPr>
              <a:t> </a:t>
            </a:r>
            <a:r>
              <a:rPr sz="800" dirty="0">
                <a:solidFill>
                  <a:srgbClr val="FFFFFF"/>
                </a:solidFill>
                <a:latin typeface="Verdana"/>
                <a:cs typeface="Verdana"/>
              </a:rPr>
              <a:t>engaging</a:t>
            </a:r>
            <a:r>
              <a:rPr sz="800" spc="15" dirty="0">
                <a:solidFill>
                  <a:srgbClr val="FFFFFF"/>
                </a:solidFill>
                <a:latin typeface="Verdana"/>
                <a:cs typeface="Verdana"/>
              </a:rPr>
              <a:t> </a:t>
            </a:r>
            <a:r>
              <a:rPr sz="800" spc="-10" dirty="0">
                <a:solidFill>
                  <a:srgbClr val="FFFFFF"/>
                </a:solidFill>
                <a:latin typeface="Verdana"/>
                <a:cs typeface="Verdana"/>
              </a:rPr>
              <a:t>chatbot experience.</a:t>
            </a:r>
            <a:endParaRPr sz="800">
              <a:latin typeface="Verdana"/>
              <a:cs typeface="Verdana"/>
            </a:endParaRPr>
          </a:p>
        </p:txBody>
      </p:sp>
      <p:pic>
        <p:nvPicPr>
          <p:cNvPr id="4" name="object 4"/>
          <p:cNvPicPr/>
          <p:nvPr/>
        </p:nvPicPr>
        <p:blipFill>
          <a:blip r:embed="rId2" cstate="print"/>
          <a:stretch>
            <a:fillRect/>
          </a:stretch>
        </p:blipFill>
        <p:spPr>
          <a:xfrm>
            <a:off x="1515" y="8"/>
            <a:ext cx="2922611" cy="32879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2" y="8"/>
            <a:ext cx="2596871" cy="3287935"/>
          </a:xfrm>
          <a:prstGeom prst="rect">
            <a:avLst/>
          </a:prstGeom>
        </p:spPr>
      </p:pic>
      <p:sp>
        <p:nvSpPr>
          <p:cNvPr id="3" name="object 3"/>
          <p:cNvSpPr txBox="1">
            <a:spLocks noGrp="1"/>
          </p:cNvSpPr>
          <p:nvPr>
            <p:ph type="title"/>
          </p:nvPr>
        </p:nvSpPr>
        <p:spPr>
          <a:xfrm>
            <a:off x="2839117" y="359926"/>
            <a:ext cx="2764790" cy="560705"/>
          </a:xfrm>
          <a:prstGeom prst="rect">
            <a:avLst/>
          </a:prstGeom>
          <a:solidFill>
            <a:srgbClr val="000000"/>
          </a:solidFill>
        </p:spPr>
        <p:txBody>
          <a:bodyPr vert="horz" wrap="square" lIns="0" tIns="81280" rIns="0" bIns="0" rtlCol="0">
            <a:spAutoFit/>
          </a:bodyPr>
          <a:lstStyle/>
          <a:p>
            <a:pPr marL="69850">
              <a:lnSpc>
                <a:spcPct val="100000"/>
              </a:lnSpc>
              <a:spcBef>
                <a:spcPts val="640"/>
              </a:spcBef>
            </a:pPr>
            <a:r>
              <a:rPr sz="1550" dirty="0"/>
              <a:t>Enhancing</a:t>
            </a:r>
            <a:r>
              <a:rPr sz="1550" spc="105" dirty="0"/>
              <a:t> </a:t>
            </a:r>
            <a:r>
              <a:rPr sz="1550" dirty="0"/>
              <a:t>User</a:t>
            </a:r>
            <a:r>
              <a:rPr sz="1550" spc="65" dirty="0"/>
              <a:t> </a:t>
            </a:r>
            <a:r>
              <a:rPr sz="1550" spc="-10" dirty="0"/>
              <a:t>Engagement</a:t>
            </a:r>
            <a:endParaRPr sz="1550"/>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2065" marR="5080" algn="ctr">
              <a:lnSpc>
                <a:spcPct val="114900"/>
              </a:lnSpc>
              <a:spcBef>
                <a:spcPts val="100"/>
              </a:spcBef>
            </a:pPr>
            <a:r>
              <a:rPr dirty="0"/>
              <a:t>Engaging</a:t>
            </a:r>
            <a:r>
              <a:rPr spc="10" dirty="0"/>
              <a:t> </a:t>
            </a:r>
            <a:r>
              <a:rPr spc="-20" dirty="0"/>
              <a:t>users</a:t>
            </a:r>
            <a:r>
              <a:rPr spc="10" dirty="0"/>
              <a:t> </a:t>
            </a:r>
            <a:r>
              <a:rPr dirty="0"/>
              <a:t>through</a:t>
            </a:r>
            <a:r>
              <a:rPr spc="15" dirty="0"/>
              <a:t> </a:t>
            </a:r>
            <a:r>
              <a:rPr spc="-10" dirty="0"/>
              <a:t>compelling conversations</a:t>
            </a:r>
            <a:r>
              <a:rPr spc="-45" dirty="0"/>
              <a:t> </a:t>
            </a:r>
            <a:r>
              <a:rPr dirty="0"/>
              <a:t>and</a:t>
            </a:r>
            <a:r>
              <a:rPr spc="-45" dirty="0"/>
              <a:t> </a:t>
            </a:r>
            <a:r>
              <a:rPr spc="-10" dirty="0"/>
              <a:t>interactive</a:t>
            </a:r>
            <a:r>
              <a:rPr spc="-45" dirty="0"/>
              <a:t> </a:t>
            </a:r>
            <a:r>
              <a:rPr spc="-20" dirty="0"/>
              <a:t>features</a:t>
            </a:r>
            <a:r>
              <a:rPr spc="-45" dirty="0"/>
              <a:t> </a:t>
            </a:r>
            <a:r>
              <a:rPr spc="-25" dirty="0"/>
              <a:t>is</a:t>
            </a:r>
            <a:r>
              <a:rPr spc="-40" dirty="0"/>
              <a:t> </a:t>
            </a:r>
            <a:r>
              <a:rPr spc="-10" dirty="0"/>
              <a:t>crucial.</a:t>
            </a:r>
          </a:p>
          <a:p>
            <a:pPr algn="ctr">
              <a:lnSpc>
                <a:spcPct val="100000"/>
              </a:lnSpc>
              <a:spcBef>
                <a:spcPts val="145"/>
              </a:spcBef>
            </a:pPr>
            <a:r>
              <a:rPr dirty="0"/>
              <a:t>By</a:t>
            </a:r>
            <a:r>
              <a:rPr spc="-25" dirty="0"/>
              <a:t> </a:t>
            </a:r>
            <a:r>
              <a:rPr dirty="0"/>
              <a:t>incorporating</a:t>
            </a:r>
            <a:r>
              <a:rPr spc="-25" dirty="0"/>
              <a:t> </a:t>
            </a:r>
            <a:r>
              <a:rPr dirty="0"/>
              <a:t>multimedia</a:t>
            </a:r>
            <a:r>
              <a:rPr spc="-20" dirty="0"/>
              <a:t> </a:t>
            </a:r>
            <a:r>
              <a:rPr spc="-10" dirty="0"/>
              <a:t>elements,</a:t>
            </a:r>
          </a:p>
          <a:p>
            <a:pPr marL="24765" marR="17145" algn="ctr">
              <a:lnSpc>
                <a:spcPct val="114900"/>
              </a:lnSpc>
              <a:spcBef>
                <a:spcPts val="20"/>
              </a:spcBef>
            </a:pPr>
            <a:r>
              <a:rPr spc="-10" dirty="0"/>
              <a:t>interactive</a:t>
            </a:r>
            <a:r>
              <a:rPr spc="-30" dirty="0"/>
              <a:t> </a:t>
            </a:r>
            <a:r>
              <a:rPr spc="-10" dirty="0"/>
              <a:t>prompts,</a:t>
            </a:r>
            <a:r>
              <a:rPr spc="-25" dirty="0"/>
              <a:t> </a:t>
            </a:r>
            <a:r>
              <a:rPr dirty="0"/>
              <a:t>and</a:t>
            </a:r>
            <a:r>
              <a:rPr spc="-30" dirty="0"/>
              <a:t> </a:t>
            </a:r>
            <a:r>
              <a:rPr dirty="0"/>
              <a:t>engaging</a:t>
            </a:r>
            <a:r>
              <a:rPr spc="-25" dirty="0"/>
              <a:t> </a:t>
            </a:r>
            <a:r>
              <a:rPr spc="-10" dirty="0"/>
              <a:t>content,</a:t>
            </a:r>
            <a:r>
              <a:rPr spc="-30" dirty="0"/>
              <a:t> </a:t>
            </a:r>
            <a:r>
              <a:rPr spc="-25" dirty="0"/>
              <a:t>we </a:t>
            </a:r>
            <a:r>
              <a:rPr dirty="0"/>
              <a:t>can</a:t>
            </a:r>
            <a:r>
              <a:rPr spc="-30" dirty="0"/>
              <a:t> </a:t>
            </a:r>
            <a:r>
              <a:rPr spc="-10" dirty="0"/>
              <a:t>captivate</a:t>
            </a:r>
            <a:r>
              <a:rPr spc="-30" dirty="0"/>
              <a:t> </a:t>
            </a:r>
            <a:r>
              <a:rPr spc="-20" dirty="0"/>
              <a:t>users</a:t>
            </a:r>
            <a:r>
              <a:rPr spc="-30" dirty="0"/>
              <a:t> </a:t>
            </a:r>
            <a:r>
              <a:rPr dirty="0"/>
              <a:t>and</a:t>
            </a:r>
            <a:r>
              <a:rPr spc="-30" dirty="0"/>
              <a:t> </a:t>
            </a:r>
            <a:r>
              <a:rPr dirty="0"/>
              <a:t>enhance</a:t>
            </a:r>
            <a:r>
              <a:rPr spc="-30" dirty="0"/>
              <a:t> </a:t>
            </a:r>
            <a:r>
              <a:rPr spc="-10" dirty="0"/>
              <a:t>their</a:t>
            </a:r>
            <a:r>
              <a:rPr spc="-30" dirty="0"/>
              <a:t> </a:t>
            </a:r>
            <a:r>
              <a:rPr spc="-10" dirty="0"/>
              <a:t>overall experience.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12" y="8"/>
            <a:ext cx="2924175" cy="3288029"/>
            <a:chOff x="1512" y="8"/>
            <a:chExt cx="2924175" cy="3288029"/>
          </a:xfrm>
        </p:grpSpPr>
        <p:sp>
          <p:nvSpPr>
            <p:cNvPr id="3" name="object 3"/>
            <p:cNvSpPr/>
            <p:nvPr/>
          </p:nvSpPr>
          <p:spPr>
            <a:xfrm>
              <a:off x="1512" y="8"/>
              <a:ext cx="2924175" cy="3288029"/>
            </a:xfrm>
            <a:custGeom>
              <a:avLst/>
              <a:gdLst/>
              <a:ahLst/>
              <a:cxnLst/>
              <a:rect l="l" t="t" r="r" b="b"/>
              <a:pathLst>
                <a:path w="2924175" h="3288029">
                  <a:moveTo>
                    <a:pt x="2923757" y="0"/>
                  </a:moveTo>
                  <a:lnTo>
                    <a:pt x="0" y="0"/>
                  </a:lnTo>
                  <a:lnTo>
                    <a:pt x="0" y="3287938"/>
                  </a:lnTo>
                  <a:lnTo>
                    <a:pt x="2923757" y="3287938"/>
                  </a:lnTo>
                  <a:lnTo>
                    <a:pt x="2923757"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428210" y="365330"/>
              <a:ext cx="2067135" cy="2557284"/>
            </a:xfrm>
            <a:prstGeom prst="rect">
              <a:avLst/>
            </a:prstGeom>
          </p:spPr>
        </p:pic>
      </p:grpSp>
      <p:sp>
        <p:nvSpPr>
          <p:cNvPr id="5" name="object 5"/>
          <p:cNvSpPr txBox="1">
            <a:spLocks noGrp="1"/>
          </p:cNvSpPr>
          <p:nvPr>
            <p:ph type="title"/>
          </p:nvPr>
        </p:nvSpPr>
        <p:spPr>
          <a:xfrm>
            <a:off x="3365909" y="468942"/>
            <a:ext cx="1568450" cy="404495"/>
          </a:xfrm>
          <a:prstGeom prst="rect">
            <a:avLst/>
          </a:prstGeom>
        </p:spPr>
        <p:txBody>
          <a:bodyPr vert="horz" wrap="square" lIns="0" tIns="19685" rIns="0" bIns="0" rtlCol="0">
            <a:spAutoFit/>
          </a:bodyPr>
          <a:lstStyle/>
          <a:p>
            <a:pPr marL="12700" marR="5080">
              <a:lnSpc>
                <a:spcPts val="1490"/>
              </a:lnSpc>
              <a:spcBef>
                <a:spcPts val="155"/>
              </a:spcBef>
            </a:pPr>
            <a:r>
              <a:rPr sz="1250" dirty="0">
                <a:solidFill>
                  <a:srgbClr val="000000"/>
                </a:solidFill>
              </a:rPr>
              <a:t>Leveraging</a:t>
            </a:r>
            <a:r>
              <a:rPr sz="1250" spc="-20" dirty="0">
                <a:solidFill>
                  <a:srgbClr val="000000"/>
                </a:solidFill>
              </a:rPr>
              <a:t> </a:t>
            </a:r>
            <a:r>
              <a:rPr sz="1250" spc="-10" dirty="0">
                <a:solidFill>
                  <a:srgbClr val="000000"/>
                </a:solidFill>
              </a:rPr>
              <a:t>Natural </a:t>
            </a:r>
            <a:r>
              <a:rPr sz="1250" dirty="0">
                <a:solidFill>
                  <a:srgbClr val="000000"/>
                </a:solidFill>
              </a:rPr>
              <a:t>Language</a:t>
            </a:r>
            <a:r>
              <a:rPr sz="1250" spc="25" dirty="0">
                <a:solidFill>
                  <a:srgbClr val="000000"/>
                </a:solidFill>
              </a:rPr>
              <a:t> </a:t>
            </a:r>
            <a:r>
              <a:rPr sz="1250" spc="-10" dirty="0">
                <a:solidFill>
                  <a:srgbClr val="000000"/>
                </a:solidFill>
              </a:rPr>
              <a:t>Processing</a:t>
            </a:r>
            <a:endParaRPr sz="1250"/>
          </a:p>
        </p:txBody>
      </p:sp>
      <p:sp>
        <p:nvSpPr>
          <p:cNvPr id="6" name="object 6"/>
          <p:cNvSpPr/>
          <p:nvPr/>
        </p:nvSpPr>
        <p:spPr>
          <a:xfrm>
            <a:off x="4940160" y="927404"/>
            <a:ext cx="200660" cy="74930"/>
          </a:xfrm>
          <a:custGeom>
            <a:avLst/>
            <a:gdLst/>
            <a:ahLst/>
            <a:cxnLst/>
            <a:rect l="l" t="t" r="r" b="b"/>
            <a:pathLst>
              <a:path w="200660" h="74930">
                <a:moveTo>
                  <a:pt x="62941" y="0"/>
                </a:moveTo>
                <a:lnTo>
                  <a:pt x="51422" y="0"/>
                </a:lnTo>
                <a:lnTo>
                  <a:pt x="51422" y="53149"/>
                </a:lnTo>
                <a:lnTo>
                  <a:pt x="26149" y="21310"/>
                </a:lnTo>
                <a:lnTo>
                  <a:pt x="9232" y="0"/>
                </a:lnTo>
                <a:lnTo>
                  <a:pt x="0" y="0"/>
                </a:lnTo>
                <a:lnTo>
                  <a:pt x="0" y="74485"/>
                </a:lnTo>
                <a:lnTo>
                  <a:pt x="11620" y="74485"/>
                </a:lnTo>
                <a:lnTo>
                  <a:pt x="11620" y="21310"/>
                </a:lnTo>
                <a:lnTo>
                  <a:pt x="53708" y="74485"/>
                </a:lnTo>
                <a:lnTo>
                  <a:pt x="62941" y="74485"/>
                </a:lnTo>
                <a:lnTo>
                  <a:pt x="62941" y="53149"/>
                </a:lnTo>
                <a:lnTo>
                  <a:pt x="62941" y="0"/>
                </a:lnTo>
                <a:close/>
              </a:path>
              <a:path w="200660" h="74930">
                <a:moveTo>
                  <a:pt x="132676" y="63893"/>
                </a:moveTo>
                <a:lnTo>
                  <a:pt x="93268" y="63893"/>
                </a:lnTo>
                <a:lnTo>
                  <a:pt x="93268" y="0"/>
                </a:lnTo>
                <a:lnTo>
                  <a:pt x="81686" y="0"/>
                </a:lnTo>
                <a:lnTo>
                  <a:pt x="81686" y="74485"/>
                </a:lnTo>
                <a:lnTo>
                  <a:pt x="132676" y="74485"/>
                </a:lnTo>
                <a:lnTo>
                  <a:pt x="132676" y="63893"/>
                </a:lnTo>
                <a:close/>
              </a:path>
              <a:path w="200660" h="74930">
                <a:moveTo>
                  <a:pt x="200101" y="18046"/>
                </a:moveTo>
                <a:lnTo>
                  <a:pt x="197332" y="11633"/>
                </a:lnTo>
                <a:lnTo>
                  <a:pt x="196088" y="10604"/>
                </a:lnTo>
                <a:lnTo>
                  <a:pt x="188455" y="4203"/>
                </a:lnTo>
                <a:lnTo>
                  <a:pt x="188455" y="21158"/>
                </a:lnTo>
                <a:lnTo>
                  <a:pt x="188455" y="31102"/>
                </a:lnTo>
                <a:lnTo>
                  <a:pt x="186842" y="34899"/>
                </a:lnTo>
                <a:lnTo>
                  <a:pt x="180352" y="40259"/>
                </a:lnTo>
                <a:lnTo>
                  <a:pt x="175539" y="41605"/>
                </a:lnTo>
                <a:lnTo>
                  <a:pt x="152463" y="41605"/>
                </a:lnTo>
                <a:lnTo>
                  <a:pt x="152463" y="10604"/>
                </a:lnTo>
                <a:lnTo>
                  <a:pt x="175539" y="10604"/>
                </a:lnTo>
                <a:lnTo>
                  <a:pt x="180352" y="11950"/>
                </a:lnTo>
                <a:lnTo>
                  <a:pt x="186842" y="17297"/>
                </a:lnTo>
                <a:lnTo>
                  <a:pt x="188455" y="21158"/>
                </a:lnTo>
                <a:lnTo>
                  <a:pt x="188455" y="4203"/>
                </a:lnTo>
                <a:lnTo>
                  <a:pt x="186232" y="2336"/>
                </a:lnTo>
                <a:lnTo>
                  <a:pt x="178739" y="0"/>
                </a:lnTo>
                <a:lnTo>
                  <a:pt x="140855" y="0"/>
                </a:lnTo>
                <a:lnTo>
                  <a:pt x="140855" y="74485"/>
                </a:lnTo>
                <a:lnTo>
                  <a:pt x="152463" y="74485"/>
                </a:lnTo>
                <a:lnTo>
                  <a:pt x="152463" y="52298"/>
                </a:lnTo>
                <a:lnTo>
                  <a:pt x="178739" y="52298"/>
                </a:lnTo>
                <a:lnTo>
                  <a:pt x="186232" y="49987"/>
                </a:lnTo>
                <a:lnTo>
                  <a:pt x="196303" y="41605"/>
                </a:lnTo>
                <a:lnTo>
                  <a:pt x="197332" y="40741"/>
                </a:lnTo>
                <a:lnTo>
                  <a:pt x="200101" y="34353"/>
                </a:lnTo>
                <a:lnTo>
                  <a:pt x="200101" y="18046"/>
                </a:lnTo>
                <a:close/>
              </a:path>
            </a:pathLst>
          </a:custGeom>
          <a:solidFill>
            <a:srgbClr val="000000"/>
          </a:solidFill>
        </p:spPr>
        <p:txBody>
          <a:bodyPr wrap="square" lIns="0" tIns="0" rIns="0" bIns="0" rtlCol="0"/>
          <a:lstStyle/>
          <a:p>
            <a:endParaRPr/>
          </a:p>
        </p:txBody>
      </p:sp>
      <p:sp>
        <p:nvSpPr>
          <p:cNvPr id="7" name="object 7"/>
          <p:cNvSpPr txBox="1"/>
          <p:nvPr/>
        </p:nvSpPr>
        <p:spPr>
          <a:xfrm>
            <a:off x="3365896" y="888723"/>
            <a:ext cx="1912620" cy="876935"/>
          </a:xfrm>
          <a:prstGeom prst="rect">
            <a:avLst/>
          </a:prstGeom>
        </p:spPr>
        <p:txBody>
          <a:bodyPr vert="horz" wrap="square" lIns="0" tIns="11430" rIns="0" bIns="0" rtlCol="0">
            <a:spAutoFit/>
          </a:bodyPr>
          <a:lstStyle/>
          <a:p>
            <a:pPr marL="12700" marR="5080">
              <a:lnSpc>
                <a:spcPct val="100000"/>
              </a:lnSpc>
              <a:spcBef>
                <a:spcPts val="90"/>
              </a:spcBef>
              <a:tabLst>
                <a:tab pos="1775460" algn="l"/>
              </a:tabLst>
            </a:pPr>
            <a:r>
              <a:rPr sz="800" spc="-10" dirty="0">
                <a:latin typeface="Verdana"/>
                <a:cs typeface="Verdana"/>
              </a:rPr>
              <a:t>Natural</a:t>
            </a:r>
            <a:r>
              <a:rPr sz="800" spc="-5" dirty="0">
                <a:latin typeface="Verdana"/>
                <a:cs typeface="Verdana"/>
              </a:rPr>
              <a:t> </a:t>
            </a:r>
            <a:r>
              <a:rPr sz="800" dirty="0">
                <a:latin typeface="Verdana"/>
                <a:cs typeface="Verdana"/>
              </a:rPr>
              <a:t>Language</a:t>
            </a:r>
            <a:r>
              <a:rPr sz="800" spc="-5" dirty="0">
                <a:latin typeface="Verdana"/>
                <a:cs typeface="Verdana"/>
              </a:rPr>
              <a:t> </a:t>
            </a:r>
            <a:r>
              <a:rPr sz="800" dirty="0">
                <a:latin typeface="Verdana"/>
                <a:cs typeface="Verdana"/>
              </a:rPr>
              <a:t>Processing</a:t>
            </a:r>
            <a:r>
              <a:rPr sz="800" spc="-5" dirty="0">
                <a:latin typeface="Verdana"/>
                <a:cs typeface="Verdana"/>
              </a:rPr>
              <a:t> </a:t>
            </a:r>
            <a:r>
              <a:rPr sz="800" spc="-50" dirty="0">
                <a:latin typeface="Verdana"/>
                <a:cs typeface="Verdana"/>
              </a:rPr>
              <a:t>(</a:t>
            </a:r>
            <a:r>
              <a:rPr sz="800" dirty="0">
                <a:latin typeface="Verdana"/>
                <a:cs typeface="Verdana"/>
              </a:rPr>
              <a:t>	</a:t>
            </a:r>
            <a:r>
              <a:rPr sz="800" spc="-50" dirty="0">
                <a:latin typeface="Verdana"/>
                <a:cs typeface="Verdana"/>
              </a:rPr>
              <a:t>) </a:t>
            </a:r>
            <a:r>
              <a:rPr sz="800" dirty="0">
                <a:latin typeface="Verdana"/>
                <a:cs typeface="Verdana"/>
              </a:rPr>
              <a:t>empowers</a:t>
            </a:r>
            <a:r>
              <a:rPr sz="800" spc="-35" dirty="0">
                <a:latin typeface="Verdana"/>
                <a:cs typeface="Verdana"/>
              </a:rPr>
              <a:t> </a:t>
            </a:r>
            <a:r>
              <a:rPr sz="800" dirty="0">
                <a:latin typeface="Verdana"/>
                <a:cs typeface="Verdana"/>
              </a:rPr>
              <a:t>chatbots</a:t>
            </a:r>
            <a:r>
              <a:rPr sz="800" spc="-35" dirty="0">
                <a:latin typeface="Verdana"/>
                <a:cs typeface="Verdana"/>
              </a:rPr>
              <a:t> </a:t>
            </a:r>
            <a:r>
              <a:rPr sz="800" spc="-10" dirty="0">
                <a:latin typeface="Verdana"/>
                <a:cs typeface="Verdana"/>
              </a:rPr>
              <a:t>to</a:t>
            </a:r>
            <a:r>
              <a:rPr sz="800" spc="-35" dirty="0">
                <a:latin typeface="Verdana"/>
                <a:cs typeface="Verdana"/>
              </a:rPr>
              <a:t> </a:t>
            </a:r>
            <a:r>
              <a:rPr sz="800" spc="-10" dirty="0">
                <a:latin typeface="Verdana"/>
                <a:cs typeface="Verdana"/>
              </a:rPr>
              <a:t>understand </a:t>
            </a:r>
            <a:r>
              <a:rPr sz="800" dirty="0">
                <a:latin typeface="Verdana"/>
                <a:cs typeface="Verdana"/>
              </a:rPr>
              <a:t>and</a:t>
            </a:r>
            <a:r>
              <a:rPr sz="800" spc="-30" dirty="0">
                <a:latin typeface="Verdana"/>
                <a:cs typeface="Verdana"/>
              </a:rPr>
              <a:t> </a:t>
            </a:r>
            <a:r>
              <a:rPr sz="800" dirty="0">
                <a:latin typeface="Verdana"/>
                <a:cs typeface="Verdana"/>
              </a:rPr>
              <a:t>respond</a:t>
            </a:r>
            <a:r>
              <a:rPr sz="800" spc="-30" dirty="0">
                <a:latin typeface="Verdana"/>
                <a:cs typeface="Verdana"/>
              </a:rPr>
              <a:t> </a:t>
            </a:r>
            <a:r>
              <a:rPr sz="800" spc="-10" dirty="0">
                <a:latin typeface="Verdana"/>
                <a:cs typeface="Verdana"/>
              </a:rPr>
              <a:t>to</a:t>
            </a:r>
            <a:r>
              <a:rPr sz="800" spc="-25" dirty="0">
                <a:latin typeface="Verdana"/>
                <a:cs typeface="Verdana"/>
              </a:rPr>
              <a:t> </a:t>
            </a:r>
            <a:r>
              <a:rPr sz="800" dirty="0">
                <a:latin typeface="Verdana"/>
                <a:cs typeface="Verdana"/>
              </a:rPr>
              <a:t>human</a:t>
            </a:r>
            <a:r>
              <a:rPr sz="800" spc="-30" dirty="0">
                <a:latin typeface="Verdana"/>
                <a:cs typeface="Verdana"/>
              </a:rPr>
              <a:t> </a:t>
            </a:r>
            <a:r>
              <a:rPr sz="800" spc="-10" dirty="0">
                <a:latin typeface="Verdana"/>
                <a:cs typeface="Verdana"/>
              </a:rPr>
              <a:t>language </a:t>
            </a:r>
            <a:r>
              <a:rPr sz="800" dirty="0">
                <a:latin typeface="Verdana"/>
                <a:cs typeface="Verdana"/>
              </a:rPr>
              <a:t>more</a:t>
            </a:r>
            <a:r>
              <a:rPr sz="800" spc="-30" dirty="0">
                <a:latin typeface="Verdana"/>
                <a:cs typeface="Verdana"/>
              </a:rPr>
              <a:t> </a:t>
            </a:r>
            <a:r>
              <a:rPr sz="800" spc="-35" dirty="0">
                <a:latin typeface="Verdana"/>
                <a:cs typeface="Verdana"/>
              </a:rPr>
              <a:t>effectively.</a:t>
            </a:r>
            <a:r>
              <a:rPr sz="800" spc="-30" dirty="0">
                <a:latin typeface="Verdana"/>
                <a:cs typeface="Verdana"/>
              </a:rPr>
              <a:t> </a:t>
            </a:r>
            <a:r>
              <a:rPr sz="800" dirty="0">
                <a:latin typeface="Verdana"/>
                <a:cs typeface="Verdana"/>
              </a:rPr>
              <a:t>By</a:t>
            </a:r>
            <a:r>
              <a:rPr sz="800" spc="-30" dirty="0">
                <a:latin typeface="Verdana"/>
                <a:cs typeface="Verdana"/>
              </a:rPr>
              <a:t> </a:t>
            </a:r>
            <a:r>
              <a:rPr sz="800" spc="-10" dirty="0">
                <a:latin typeface="Verdana"/>
                <a:cs typeface="Verdana"/>
              </a:rPr>
              <a:t>leveraging</a:t>
            </a:r>
            <a:r>
              <a:rPr sz="800" spc="-30" dirty="0">
                <a:latin typeface="Verdana"/>
                <a:cs typeface="Verdana"/>
              </a:rPr>
              <a:t> </a:t>
            </a:r>
            <a:r>
              <a:rPr sz="800" spc="-25" dirty="0">
                <a:latin typeface="Verdana"/>
                <a:cs typeface="Verdana"/>
              </a:rPr>
              <a:t>NLP </a:t>
            </a:r>
            <a:r>
              <a:rPr sz="800" dirty="0">
                <a:latin typeface="Verdana"/>
                <a:cs typeface="Verdana"/>
              </a:rPr>
              <a:t>algorithms</a:t>
            </a:r>
            <a:r>
              <a:rPr sz="800" spc="-45" dirty="0">
                <a:latin typeface="Verdana"/>
                <a:cs typeface="Verdana"/>
              </a:rPr>
              <a:t> </a:t>
            </a:r>
            <a:r>
              <a:rPr sz="800" dirty="0">
                <a:latin typeface="Verdana"/>
                <a:cs typeface="Verdana"/>
              </a:rPr>
              <a:t>and</a:t>
            </a:r>
            <a:r>
              <a:rPr sz="800" spc="-40" dirty="0">
                <a:latin typeface="Verdana"/>
                <a:cs typeface="Verdana"/>
              </a:rPr>
              <a:t> </a:t>
            </a:r>
            <a:r>
              <a:rPr sz="800" spc="-10" dirty="0">
                <a:latin typeface="Verdana"/>
                <a:cs typeface="Verdana"/>
              </a:rPr>
              <a:t>techniques,</a:t>
            </a:r>
            <a:r>
              <a:rPr sz="800" spc="-40" dirty="0">
                <a:latin typeface="Verdana"/>
                <a:cs typeface="Verdana"/>
              </a:rPr>
              <a:t> </a:t>
            </a:r>
            <a:r>
              <a:rPr sz="800" dirty="0">
                <a:latin typeface="Verdana"/>
                <a:cs typeface="Verdana"/>
              </a:rPr>
              <a:t>we</a:t>
            </a:r>
            <a:r>
              <a:rPr sz="800" spc="-40" dirty="0">
                <a:latin typeface="Verdana"/>
                <a:cs typeface="Verdana"/>
              </a:rPr>
              <a:t> </a:t>
            </a:r>
            <a:r>
              <a:rPr sz="800" spc="-25" dirty="0">
                <a:latin typeface="Verdana"/>
                <a:cs typeface="Verdana"/>
              </a:rPr>
              <a:t>can </a:t>
            </a:r>
            <a:r>
              <a:rPr sz="800" dirty="0">
                <a:latin typeface="Verdana"/>
                <a:cs typeface="Verdana"/>
              </a:rPr>
              <a:t>enhance</a:t>
            </a:r>
            <a:r>
              <a:rPr sz="800" spc="-20" dirty="0">
                <a:latin typeface="Verdana"/>
                <a:cs typeface="Verdana"/>
              </a:rPr>
              <a:t> </a:t>
            </a:r>
            <a:r>
              <a:rPr sz="800" dirty="0">
                <a:latin typeface="Verdana"/>
                <a:cs typeface="Verdana"/>
              </a:rPr>
              <a:t>the</a:t>
            </a:r>
            <a:r>
              <a:rPr sz="800" spc="-20" dirty="0">
                <a:latin typeface="Verdana"/>
                <a:cs typeface="Verdana"/>
              </a:rPr>
              <a:t> </a:t>
            </a:r>
            <a:r>
              <a:rPr sz="800" spc="-10" dirty="0">
                <a:latin typeface="Verdana"/>
                <a:cs typeface="Verdana"/>
              </a:rPr>
              <a:t>chatbot's</a:t>
            </a:r>
            <a:r>
              <a:rPr sz="800" spc="-15" dirty="0">
                <a:latin typeface="Verdana"/>
                <a:cs typeface="Verdana"/>
              </a:rPr>
              <a:t> </a:t>
            </a:r>
            <a:r>
              <a:rPr sz="800" spc="-10" dirty="0">
                <a:latin typeface="Verdana"/>
                <a:cs typeface="Verdana"/>
              </a:rPr>
              <a:t>conversational capabilities</a:t>
            </a:r>
            <a:r>
              <a:rPr sz="800" spc="-15" dirty="0">
                <a:latin typeface="Verdana"/>
                <a:cs typeface="Verdana"/>
              </a:rPr>
              <a:t> </a:t>
            </a:r>
            <a:r>
              <a:rPr sz="800" dirty="0">
                <a:latin typeface="Verdana"/>
                <a:cs typeface="Verdana"/>
              </a:rPr>
              <a:t>and</a:t>
            </a:r>
            <a:r>
              <a:rPr sz="800" spc="-15" dirty="0">
                <a:latin typeface="Verdana"/>
                <a:cs typeface="Verdana"/>
              </a:rPr>
              <a:t> </a:t>
            </a:r>
            <a:r>
              <a:rPr sz="800" spc="-20" dirty="0">
                <a:latin typeface="Verdana"/>
                <a:cs typeface="Verdana"/>
              </a:rPr>
              <a:t>user</a:t>
            </a:r>
            <a:r>
              <a:rPr sz="800" spc="-15" dirty="0">
                <a:latin typeface="Verdana"/>
                <a:cs typeface="Verdana"/>
              </a:rPr>
              <a:t> </a:t>
            </a:r>
            <a:r>
              <a:rPr sz="800" spc="-10" dirty="0">
                <a:latin typeface="Verdana"/>
                <a:cs typeface="Verdana"/>
              </a:rPr>
              <a:t>experience.</a:t>
            </a:r>
            <a:endParaRPr sz="800">
              <a:latin typeface="Verdana"/>
              <a:cs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5" y="8"/>
            <a:ext cx="2596865" cy="3287938"/>
          </a:xfrm>
          <a:prstGeom prst="rect">
            <a:avLst/>
          </a:prstGeom>
        </p:spPr>
      </p:pic>
      <p:sp>
        <p:nvSpPr>
          <p:cNvPr id="3" name="object 3"/>
          <p:cNvSpPr txBox="1">
            <a:spLocks noGrp="1"/>
          </p:cNvSpPr>
          <p:nvPr>
            <p:ph type="title"/>
          </p:nvPr>
        </p:nvSpPr>
        <p:spPr>
          <a:xfrm>
            <a:off x="2839117" y="359926"/>
            <a:ext cx="2764790" cy="560705"/>
          </a:xfrm>
          <a:prstGeom prst="rect">
            <a:avLst/>
          </a:prstGeom>
          <a:solidFill>
            <a:srgbClr val="000000"/>
          </a:solidFill>
        </p:spPr>
        <p:txBody>
          <a:bodyPr vert="horz" wrap="square" lIns="0" tIns="76835" rIns="0" bIns="0" rtlCol="0">
            <a:spAutoFit/>
          </a:bodyPr>
          <a:lstStyle/>
          <a:p>
            <a:pPr marL="74930">
              <a:lnSpc>
                <a:spcPct val="100000"/>
              </a:lnSpc>
              <a:spcBef>
                <a:spcPts val="605"/>
              </a:spcBef>
            </a:pPr>
            <a:r>
              <a:rPr sz="1250" dirty="0"/>
              <a:t>Optimizing</a:t>
            </a:r>
            <a:r>
              <a:rPr sz="1250" spc="50" dirty="0"/>
              <a:t> </a:t>
            </a:r>
            <a:r>
              <a:rPr sz="1250" spc="-10" dirty="0"/>
              <a:t>Performance</a:t>
            </a:r>
            <a:r>
              <a:rPr sz="1250" spc="50" dirty="0"/>
              <a:t> </a:t>
            </a:r>
            <a:r>
              <a:rPr sz="1250" dirty="0"/>
              <a:t>and</a:t>
            </a:r>
            <a:r>
              <a:rPr sz="1250" spc="50" dirty="0"/>
              <a:t> </a:t>
            </a:r>
            <a:r>
              <a:rPr sz="1250" spc="-10" dirty="0"/>
              <a:t>Speed</a:t>
            </a:r>
            <a:endParaRPr sz="1250"/>
          </a:p>
        </p:txBody>
      </p:sp>
      <p:sp>
        <p:nvSpPr>
          <p:cNvPr id="4" name="object 4"/>
          <p:cNvSpPr txBox="1"/>
          <p:nvPr/>
        </p:nvSpPr>
        <p:spPr>
          <a:xfrm>
            <a:off x="2977553" y="1045441"/>
            <a:ext cx="2475230" cy="728980"/>
          </a:xfrm>
          <a:prstGeom prst="rect">
            <a:avLst/>
          </a:prstGeom>
        </p:spPr>
        <p:txBody>
          <a:bodyPr vert="horz" wrap="square" lIns="0" tIns="12065" rIns="0" bIns="0" rtlCol="0">
            <a:spAutoFit/>
          </a:bodyPr>
          <a:lstStyle/>
          <a:p>
            <a:pPr marL="12700" marR="5080" algn="ctr">
              <a:lnSpc>
                <a:spcPct val="115500"/>
              </a:lnSpc>
              <a:spcBef>
                <a:spcPts val="95"/>
              </a:spcBef>
            </a:pPr>
            <a:r>
              <a:rPr sz="800" dirty="0">
                <a:latin typeface="Verdana"/>
                <a:cs typeface="Verdana"/>
              </a:rPr>
              <a:t>Optimizing</a:t>
            </a:r>
            <a:r>
              <a:rPr sz="800" spc="-30" dirty="0">
                <a:latin typeface="Verdana"/>
                <a:cs typeface="Verdana"/>
              </a:rPr>
              <a:t> </a:t>
            </a:r>
            <a:r>
              <a:rPr sz="800" dirty="0">
                <a:latin typeface="Verdana"/>
                <a:cs typeface="Verdana"/>
              </a:rPr>
              <a:t>the</a:t>
            </a:r>
            <a:r>
              <a:rPr sz="800" spc="-30" dirty="0">
                <a:latin typeface="Verdana"/>
                <a:cs typeface="Verdana"/>
              </a:rPr>
              <a:t> </a:t>
            </a:r>
            <a:r>
              <a:rPr sz="800" dirty="0">
                <a:latin typeface="Verdana"/>
                <a:cs typeface="Verdana"/>
              </a:rPr>
              <a:t>performance</a:t>
            </a:r>
            <a:r>
              <a:rPr sz="800" spc="-30" dirty="0">
                <a:latin typeface="Verdana"/>
                <a:cs typeface="Verdana"/>
              </a:rPr>
              <a:t> </a:t>
            </a:r>
            <a:r>
              <a:rPr sz="800" dirty="0">
                <a:latin typeface="Verdana"/>
                <a:cs typeface="Verdana"/>
              </a:rPr>
              <a:t>and</a:t>
            </a:r>
            <a:r>
              <a:rPr sz="800" spc="-30" dirty="0">
                <a:latin typeface="Verdana"/>
                <a:cs typeface="Verdana"/>
              </a:rPr>
              <a:t> </a:t>
            </a:r>
            <a:r>
              <a:rPr sz="800" dirty="0">
                <a:latin typeface="Verdana"/>
                <a:cs typeface="Verdana"/>
              </a:rPr>
              <a:t>speed</a:t>
            </a:r>
            <a:r>
              <a:rPr sz="800" spc="-30" dirty="0">
                <a:latin typeface="Verdana"/>
                <a:cs typeface="Verdana"/>
              </a:rPr>
              <a:t> </a:t>
            </a:r>
            <a:r>
              <a:rPr sz="800" spc="-10" dirty="0">
                <a:latin typeface="Verdana"/>
                <a:cs typeface="Verdana"/>
              </a:rPr>
              <a:t>of</a:t>
            </a:r>
            <a:r>
              <a:rPr sz="800" spc="-30" dirty="0">
                <a:latin typeface="Verdana"/>
                <a:cs typeface="Verdana"/>
              </a:rPr>
              <a:t> </a:t>
            </a:r>
            <a:r>
              <a:rPr sz="800" spc="-25" dirty="0">
                <a:latin typeface="Verdana"/>
                <a:cs typeface="Verdana"/>
              </a:rPr>
              <a:t>the </a:t>
            </a:r>
            <a:r>
              <a:rPr sz="800" dirty="0">
                <a:latin typeface="Verdana"/>
                <a:cs typeface="Verdana"/>
              </a:rPr>
              <a:t>chatbot</a:t>
            </a:r>
            <a:r>
              <a:rPr sz="800" spc="-45" dirty="0">
                <a:latin typeface="Verdana"/>
                <a:cs typeface="Verdana"/>
              </a:rPr>
              <a:t> </a:t>
            </a:r>
            <a:r>
              <a:rPr sz="800" spc="-25" dirty="0">
                <a:latin typeface="Verdana"/>
                <a:cs typeface="Verdana"/>
              </a:rPr>
              <a:t>is</a:t>
            </a:r>
            <a:r>
              <a:rPr sz="800" spc="-45" dirty="0">
                <a:latin typeface="Verdana"/>
                <a:cs typeface="Verdana"/>
              </a:rPr>
              <a:t> </a:t>
            </a:r>
            <a:r>
              <a:rPr sz="800" spc="-10" dirty="0">
                <a:latin typeface="Verdana"/>
                <a:cs typeface="Verdana"/>
              </a:rPr>
              <a:t>essential</a:t>
            </a:r>
            <a:r>
              <a:rPr sz="800" spc="-40" dirty="0">
                <a:latin typeface="Verdana"/>
                <a:cs typeface="Verdana"/>
              </a:rPr>
              <a:t> </a:t>
            </a:r>
            <a:r>
              <a:rPr sz="800" spc="-25" dirty="0">
                <a:latin typeface="Verdana"/>
                <a:cs typeface="Verdana"/>
              </a:rPr>
              <a:t>for</a:t>
            </a:r>
            <a:r>
              <a:rPr sz="800" spc="-45" dirty="0">
                <a:latin typeface="Verdana"/>
                <a:cs typeface="Verdana"/>
              </a:rPr>
              <a:t> </a:t>
            </a:r>
            <a:r>
              <a:rPr sz="800" spc="-10" dirty="0">
                <a:latin typeface="Verdana"/>
                <a:cs typeface="Verdana"/>
              </a:rPr>
              <a:t>delivering</a:t>
            </a:r>
            <a:r>
              <a:rPr sz="800" spc="-45" dirty="0">
                <a:latin typeface="Verdana"/>
                <a:cs typeface="Verdana"/>
              </a:rPr>
              <a:t> </a:t>
            </a:r>
            <a:r>
              <a:rPr sz="800" spc="-10" dirty="0">
                <a:latin typeface="Verdana"/>
                <a:cs typeface="Verdana"/>
              </a:rPr>
              <a:t>a</a:t>
            </a:r>
            <a:r>
              <a:rPr sz="800" spc="-40" dirty="0">
                <a:latin typeface="Verdana"/>
                <a:cs typeface="Verdana"/>
              </a:rPr>
              <a:t> </a:t>
            </a:r>
            <a:r>
              <a:rPr sz="800" spc="-10" dirty="0">
                <a:latin typeface="Verdana"/>
                <a:cs typeface="Verdana"/>
              </a:rPr>
              <a:t>seamless</a:t>
            </a:r>
            <a:r>
              <a:rPr sz="800" spc="-45" dirty="0">
                <a:latin typeface="Verdana"/>
                <a:cs typeface="Verdana"/>
              </a:rPr>
              <a:t> </a:t>
            </a:r>
            <a:r>
              <a:rPr sz="800" spc="-25" dirty="0">
                <a:latin typeface="Verdana"/>
                <a:cs typeface="Verdana"/>
              </a:rPr>
              <a:t>and </a:t>
            </a:r>
            <a:r>
              <a:rPr sz="800" spc="-20" dirty="0">
                <a:latin typeface="Verdana"/>
                <a:cs typeface="Verdana"/>
              </a:rPr>
              <a:t>responsive</a:t>
            </a:r>
            <a:r>
              <a:rPr sz="800" spc="-35" dirty="0">
                <a:latin typeface="Verdana"/>
                <a:cs typeface="Verdana"/>
              </a:rPr>
              <a:t> </a:t>
            </a:r>
            <a:r>
              <a:rPr sz="800" spc="-20" dirty="0">
                <a:latin typeface="Verdana"/>
                <a:cs typeface="Verdana"/>
              </a:rPr>
              <a:t>user</a:t>
            </a:r>
            <a:r>
              <a:rPr sz="800" spc="-30" dirty="0">
                <a:latin typeface="Verdana"/>
                <a:cs typeface="Verdana"/>
              </a:rPr>
              <a:t> </a:t>
            </a:r>
            <a:r>
              <a:rPr sz="800" spc="-20" dirty="0">
                <a:latin typeface="Verdana"/>
                <a:cs typeface="Verdana"/>
              </a:rPr>
              <a:t>experience.</a:t>
            </a:r>
            <a:r>
              <a:rPr sz="800" spc="-30" dirty="0">
                <a:latin typeface="Verdana"/>
                <a:cs typeface="Verdana"/>
              </a:rPr>
              <a:t> </a:t>
            </a:r>
            <a:r>
              <a:rPr sz="800" dirty="0">
                <a:latin typeface="Verdana"/>
                <a:cs typeface="Verdana"/>
              </a:rPr>
              <a:t>By</a:t>
            </a:r>
            <a:r>
              <a:rPr sz="800" spc="-30" dirty="0">
                <a:latin typeface="Verdana"/>
                <a:cs typeface="Verdana"/>
              </a:rPr>
              <a:t> </a:t>
            </a:r>
            <a:r>
              <a:rPr sz="800" spc="-10" dirty="0">
                <a:latin typeface="Verdana"/>
                <a:cs typeface="Verdana"/>
              </a:rPr>
              <a:t>prioritizing </a:t>
            </a:r>
            <a:r>
              <a:rPr sz="800" dirty="0">
                <a:latin typeface="Verdana"/>
                <a:cs typeface="Verdana"/>
              </a:rPr>
              <a:t>efficiency</a:t>
            </a:r>
            <a:r>
              <a:rPr sz="800" spc="-35" dirty="0">
                <a:latin typeface="Verdana"/>
                <a:cs typeface="Verdana"/>
              </a:rPr>
              <a:t> </a:t>
            </a:r>
            <a:r>
              <a:rPr sz="800" dirty="0">
                <a:latin typeface="Verdana"/>
                <a:cs typeface="Verdana"/>
              </a:rPr>
              <a:t>and</a:t>
            </a:r>
            <a:r>
              <a:rPr sz="800" spc="-30" dirty="0">
                <a:latin typeface="Verdana"/>
                <a:cs typeface="Verdana"/>
              </a:rPr>
              <a:t> </a:t>
            </a:r>
            <a:r>
              <a:rPr sz="800" spc="-25" dirty="0">
                <a:latin typeface="Verdana"/>
                <a:cs typeface="Verdana"/>
              </a:rPr>
              <a:t>responsiveness,</a:t>
            </a:r>
            <a:r>
              <a:rPr sz="800" spc="-30" dirty="0">
                <a:latin typeface="Verdana"/>
                <a:cs typeface="Verdana"/>
              </a:rPr>
              <a:t> </a:t>
            </a:r>
            <a:r>
              <a:rPr sz="800" dirty="0">
                <a:latin typeface="Verdana"/>
                <a:cs typeface="Verdana"/>
              </a:rPr>
              <a:t>we</a:t>
            </a:r>
            <a:r>
              <a:rPr sz="800" spc="-35" dirty="0">
                <a:latin typeface="Verdana"/>
                <a:cs typeface="Verdana"/>
              </a:rPr>
              <a:t> </a:t>
            </a:r>
            <a:r>
              <a:rPr sz="800" dirty="0">
                <a:latin typeface="Verdana"/>
                <a:cs typeface="Verdana"/>
              </a:rPr>
              <a:t>can</a:t>
            </a:r>
            <a:r>
              <a:rPr sz="800" spc="-30" dirty="0">
                <a:latin typeface="Verdana"/>
                <a:cs typeface="Verdana"/>
              </a:rPr>
              <a:t> </a:t>
            </a:r>
            <a:r>
              <a:rPr sz="800" spc="-10" dirty="0">
                <a:latin typeface="Verdana"/>
                <a:cs typeface="Verdana"/>
              </a:rPr>
              <a:t>ensure swift</a:t>
            </a:r>
            <a:r>
              <a:rPr sz="800" spc="-50" dirty="0">
                <a:latin typeface="Verdana"/>
                <a:cs typeface="Verdana"/>
              </a:rPr>
              <a:t> </a:t>
            </a:r>
            <a:r>
              <a:rPr sz="800" dirty="0">
                <a:latin typeface="Verdana"/>
                <a:cs typeface="Verdana"/>
              </a:rPr>
              <a:t>and</a:t>
            </a:r>
            <a:r>
              <a:rPr sz="800" spc="-50" dirty="0">
                <a:latin typeface="Verdana"/>
                <a:cs typeface="Verdana"/>
              </a:rPr>
              <a:t> </a:t>
            </a:r>
            <a:r>
              <a:rPr sz="800" spc="-10" dirty="0">
                <a:latin typeface="Verdana"/>
                <a:cs typeface="Verdana"/>
              </a:rPr>
              <a:t>effective</a:t>
            </a:r>
            <a:r>
              <a:rPr sz="800" spc="-50" dirty="0">
                <a:latin typeface="Verdana"/>
                <a:cs typeface="Verdana"/>
              </a:rPr>
              <a:t> </a:t>
            </a:r>
            <a:r>
              <a:rPr sz="800" spc="-10" dirty="0">
                <a:latin typeface="Verdana"/>
                <a:cs typeface="Verdana"/>
              </a:rPr>
              <a:t>interactions.</a:t>
            </a:r>
            <a:endParaRPr sz="800">
              <a:latin typeface="Verdana"/>
              <a:cs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800"/>
              </a:lnSpc>
              <a:spcBef>
                <a:spcPts val="100"/>
              </a:spcBef>
            </a:pPr>
            <a:r>
              <a:rPr dirty="0"/>
              <a:t>Ensuring</a:t>
            </a:r>
            <a:r>
              <a:rPr spc="55" dirty="0"/>
              <a:t> </a:t>
            </a:r>
            <a:r>
              <a:rPr dirty="0"/>
              <a:t>Data</a:t>
            </a:r>
            <a:r>
              <a:rPr spc="55" dirty="0"/>
              <a:t> </a:t>
            </a:r>
            <a:r>
              <a:rPr dirty="0"/>
              <a:t>Privacy</a:t>
            </a:r>
            <a:r>
              <a:rPr spc="25" dirty="0"/>
              <a:t> </a:t>
            </a:r>
            <a:r>
              <a:rPr spc="-25" dirty="0"/>
              <a:t>and</a:t>
            </a:r>
            <a:r>
              <a:rPr spc="-10" dirty="0"/>
              <a:t> Security</a:t>
            </a:r>
          </a:p>
        </p:txBody>
      </p:sp>
      <p:sp>
        <p:nvSpPr>
          <p:cNvPr id="3" name="object 3"/>
          <p:cNvSpPr txBox="1"/>
          <p:nvPr/>
        </p:nvSpPr>
        <p:spPr>
          <a:xfrm>
            <a:off x="3528590" y="999529"/>
            <a:ext cx="1800860" cy="876935"/>
          </a:xfrm>
          <a:prstGeom prst="rect">
            <a:avLst/>
          </a:prstGeom>
        </p:spPr>
        <p:txBody>
          <a:bodyPr vert="horz" wrap="square" lIns="0" tIns="11430" rIns="0" bIns="0" rtlCol="0">
            <a:spAutoFit/>
          </a:bodyPr>
          <a:lstStyle/>
          <a:p>
            <a:pPr marL="12700" marR="5080">
              <a:lnSpc>
                <a:spcPct val="100000"/>
              </a:lnSpc>
              <a:spcBef>
                <a:spcPts val="90"/>
              </a:spcBef>
            </a:pPr>
            <a:r>
              <a:rPr sz="800" spc="-10" dirty="0">
                <a:solidFill>
                  <a:srgbClr val="FFFFFF"/>
                </a:solidFill>
                <a:latin typeface="Verdana"/>
                <a:cs typeface="Verdana"/>
              </a:rPr>
              <a:t>Safeguarding</a:t>
            </a:r>
            <a:r>
              <a:rPr sz="800" spc="-30" dirty="0">
                <a:solidFill>
                  <a:srgbClr val="FFFFFF"/>
                </a:solidFill>
                <a:latin typeface="Verdana"/>
                <a:cs typeface="Verdana"/>
              </a:rPr>
              <a:t> </a:t>
            </a:r>
            <a:r>
              <a:rPr sz="800" spc="-20" dirty="0">
                <a:solidFill>
                  <a:srgbClr val="FFFFFF"/>
                </a:solidFill>
                <a:latin typeface="Verdana"/>
                <a:cs typeface="Verdana"/>
              </a:rPr>
              <a:t>user</a:t>
            </a:r>
            <a:r>
              <a:rPr sz="800" spc="-25" dirty="0">
                <a:solidFill>
                  <a:srgbClr val="FFFFFF"/>
                </a:solidFill>
                <a:latin typeface="Verdana"/>
                <a:cs typeface="Verdana"/>
              </a:rPr>
              <a:t> </a:t>
            </a:r>
            <a:r>
              <a:rPr sz="800" dirty="0">
                <a:solidFill>
                  <a:srgbClr val="FFFFFF"/>
                </a:solidFill>
                <a:latin typeface="Verdana"/>
                <a:cs typeface="Verdana"/>
              </a:rPr>
              <a:t>data</a:t>
            </a:r>
            <a:r>
              <a:rPr sz="800" spc="-25" dirty="0">
                <a:solidFill>
                  <a:srgbClr val="FFFFFF"/>
                </a:solidFill>
                <a:latin typeface="Verdana"/>
                <a:cs typeface="Verdana"/>
              </a:rPr>
              <a:t> and </a:t>
            </a:r>
            <a:r>
              <a:rPr sz="800" dirty="0">
                <a:solidFill>
                  <a:srgbClr val="FFFFFF"/>
                </a:solidFill>
                <a:latin typeface="Verdana"/>
                <a:cs typeface="Verdana"/>
              </a:rPr>
              <a:t>ensuring</a:t>
            </a:r>
            <a:r>
              <a:rPr sz="800" spc="-30" dirty="0">
                <a:solidFill>
                  <a:srgbClr val="FFFFFF"/>
                </a:solidFill>
                <a:latin typeface="Verdana"/>
                <a:cs typeface="Verdana"/>
              </a:rPr>
              <a:t> </a:t>
            </a:r>
            <a:r>
              <a:rPr sz="800" spc="-25" dirty="0">
                <a:solidFill>
                  <a:srgbClr val="FFFFFF"/>
                </a:solidFill>
                <a:latin typeface="Verdana"/>
                <a:cs typeface="Verdana"/>
              </a:rPr>
              <a:t>privacy </a:t>
            </a:r>
            <a:r>
              <a:rPr sz="800" dirty="0">
                <a:solidFill>
                  <a:srgbClr val="FFFFFF"/>
                </a:solidFill>
                <a:latin typeface="Verdana"/>
                <a:cs typeface="Verdana"/>
              </a:rPr>
              <a:t>and</a:t>
            </a:r>
            <a:r>
              <a:rPr sz="800" spc="-30" dirty="0">
                <a:solidFill>
                  <a:srgbClr val="FFFFFF"/>
                </a:solidFill>
                <a:latin typeface="Verdana"/>
                <a:cs typeface="Verdana"/>
              </a:rPr>
              <a:t> </a:t>
            </a:r>
            <a:r>
              <a:rPr sz="800" spc="-20" dirty="0">
                <a:solidFill>
                  <a:srgbClr val="FFFFFF"/>
                </a:solidFill>
                <a:latin typeface="Verdana"/>
                <a:cs typeface="Verdana"/>
              </a:rPr>
              <a:t>security</a:t>
            </a:r>
            <a:r>
              <a:rPr sz="800" spc="-25" dirty="0">
                <a:solidFill>
                  <a:srgbClr val="FFFFFF"/>
                </a:solidFill>
                <a:latin typeface="Verdana"/>
                <a:cs typeface="Verdana"/>
              </a:rPr>
              <a:t> are </a:t>
            </a:r>
            <a:r>
              <a:rPr sz="800" spc="-10" dirty="0">
                <a:solidFill>
                  <a:srgbClr val="FFFFFF"/>
                </a:solidFill>
                <a:latin typeface="Verdana"/>
                <a:cs typeface="Verdana"/>
              </a:rPr>
              <a:t>paramount.</a:t>
            </a:r>
            <a:r>
              <a:rPr sz="800" spc="10" dirty="0">
                <a:solidFill>
                  <a:srgbClr val="FFFFFF"/>
                </a:solidFill>
                <a:latin typeface="Verdana"/>
                <a:cs typeface="Verdana"/>
              </a:rPr>
              <a:t> </a:t>
            </a:r>
            <a:r>
              <a:rPr sz="800" dirty="0">
                <a:solidFill>
                  <a:srgbClr val="FFFFFF"/>
                </a:solidFill>
                <a:latin typeface="Verdana"/>
                <a:cs typeface="Verdana"/>
              </a:rPr>
              <a:t>Implementing</a:t>
            </a:r>
            <a:r>
              <a:rPr sz="800" spc="15" dirty="0">
                <a:solidFill>
                  <a:srgbClr val="FFFFFF"/>
                </a:solidFill>
                <a:latin typeface="Verdana"/>
                <a:cs typeface="Verdana"/>
              </a:rPr>
              <a:t> </a:t>
            </a:r>
            <a:r>
              <a:rPr sz="800" spc="-10" dirty="0">
                <a:solidFill>
                  <a:srgbClr val="FFFFFF"/>
                </a:solidFill>
                <a:latin typeface="Verdana"/>
                <a:cs typeface="Verdana"/>
              </a:rPr>
              <a:t>robust </a:t>
            </a:r>
            <a:r>
              <a:rPr sz="800" spc="-20" dirty="0">
                <a:solidFill>
                  <a:srgbClr val="FFFFFF"/>
                </a:solidFill>
                <a:latin typeface="Verdana"/>
                <a:cs typeface="Verdana"/>
              </a:rPr>
              <a:t>security</a:t>
            </a:r>
            <a:r>
              <a:rPr sz="800" spc="-25" dirty="0">
                <a:solidFill>
                  <a:srgbClr val="FFFFFF"/>
                </a:solidFill>
                <a:latin typeface="Verdana"/>
                <a:cs typeface="Verdana"/>
              </a:rPr>
              <a:t> </a:t>
            </a:r>
            <a:r>
              <a:rPr sz="800" spc="-10" dirty="0">
                <a:solidFill>
                  <a:srgbClr val="FFFFFF"/>
                </a:solidFill>
                <a:latin typeface="Verdana"/>
                <a:cs typeface="Verdana"/>
              </a:rPr>
              <a:t>measures</a:t>
            </a:r>
            <a:r>
              <a:rPr sz="800" spc="-25" dirty="0">
                <a:solidFill>
                  <a:srgbClr val="FFFFFF"/>
                </a:solidFill>
                <a:latin typeface="Verdana"/>
                <a:cs typeface="Verdana"/>
              </a:rPr>
              <a:t> </a:t>
            </a:r>
            <a:r>
              <a:rPr sz="800" dirty="0">
                <a:solidFill>
                  <a:srgbClr val="FFFFFF"/>
                </a:solidFill>
                <a:latin typeface="Verdana"/>
                <a:cs typeface="Verdana"/>
              </a:rPr>
              <a:t>and</a:t>
            </a:r>
            <a:r>
              <a:rPr sz="800" spc="-25" dirty="0">
                <a:solidFill>
                  <a:srgbClr val="FFFFFF"/>
                </a:solidFill>
                <a:latin typeface="Verdana"/>
                <a:cs typeface="Verdana"/>
              </a:rPr>
              <a:t> </a:t>
            </a:r>
            <a:r>
              <a:rPr sz="800" spc="-20" dirty="0">
                <a:solidFill>
                  <a:srgbClr val="FFFFFF"/>
                </a:solidFill>
                <a:latin typeface="Verdana"/>
                <a:cs typeface="Verdana"/>
              </a:rPr>
              <a:t>data </a:t>
            </a:r>
            <a:r>
              <a:rPr sz="800" dirty="0">
                <a:solidFill>
                  <a:srgbClr val="FFFFFF"/>
                </a:solidFill>
                <a:latin typeface="Verdana"/>
                <a:cs typeface="Verdana"/>
              </a:rPr>
              <a:t>encryption</a:t>
            </a:r>
            <a:r>
              <a:rPr sz="800" spc="-50" dirty="0">
                <a:solidFill>
                  <a:srgbClr val="FFFFFF"/>
                </a:solidFill>
                <a:latin typeface="Verdana"/>
                <a:cs typeface="Verdana"/>
              </a:rPr>
              <a:t> </a:t>
            </a:r>
            <a:r>
              <a:rPr sz="800" spc="-10" dirty="0">
                <a:solidFill>
                  <a:srgbClr val="FFFFFF"/>
                </a:solidFill>
                <a:latin typeface="Verdana"/>
                <a:cs typeface="Verdana"/>
              </a:rPr>
              <a:t>protocols</a:t>
            </a:r>
            <a:r>
              <a:rPr sz="800" spc="-45" dirty="0">
                <a:solidFill>
                  <a:srgbClr val="FFFFFF"/>
                </a:solidFill>
                <a:latin typeface="Verdana"/>
                <a:cs typeface="Verdana"/>
              </a:rPr>
              <a:t> </a:t>
            </a:r>
            <a:r>
              <a:rPr sz="800" spc="-25" dirty="0">
                <a:solidFill>
                  <a:srgbClr val="FFFFFF"/>
                </a:solidFill>
                <a:latin typeface="Verdana"/>
                <a:cs typeface="Verdana"/>
              </a:rPr>
              <a:t>is</a:t>
            </a:r>
            <a:r>
              <a:rPr sz="800" spc="-45" dirty="0">
                <a:solidFill>
                  <a:srgbClr val="FFFFFF"/>
                </a:solidFill>
                <a:latin typeface="Verdana"/>
                <a:cs typeface="Verdana"/>
              </a:rPr>
              <a:t> </a:t>
            </a:r>
            <a:r>
              <a:rPr sz="800" spc="-10" dirty="0">
                <a:solidFill>
                  <a:srgbClr val="FFFFFF"/>
                </a:solidFill>
                <a:latin typeface="Verdana"/>
                <a:cs typeface="Verdana"/>
              </a:rPr>
              <a:t>essential</a:t>
            </a:r>
            <a:r>
              <a:rPr sz="800" spc="-45" dirty="0">
                <a:solidFill>
                  <a:srgbClr val="FFFFFF"/>
                </a:solidFill>
                <a:latin typeface="Verdana"/>
                <a:cs typeface="Verdana"/>
              </a:rPr>
              <a:t> </a:t>
            </a:r>
            <a:r>
              <a:rPr sz="800" spc="-25" dirty="0">
                <a:solidFill>
                  <a:srgbClr val="FFFFFF"/>
                </a:solidFill>
                <a:latin typeface="Verdana"/>
                <a:cs typeface="Verdana"/>
              </a:rPr>
              <a:t>for </a:t>
            </a:r>
            <a:r>
              <a:rPr sz="800" dirty="0">
                <a:solidFill>
                  <a:srgbClr val="FFFFFF"/>
                </a:solidFill>
                <a:latin typeface="Verdana"/>
                <a:cs typeface="Verdana"/>
              </a:rPr>
              <a:t>building</a:t>
            </a:r>
            <a:r>
              <a:rPr sz="800" spc="-20" dirty="0">
                <a:solidFill>
                  <a:srgbClr val="FFFFFF"/>
                </a:solidFill>
                <a:latin typeface="Verdana"/>
                <a:cs typeface="Verdana"/>
              </a:rPr>
              <a:t> </a:t>
            </a:r>
            <a:r>
              <a:rPr sz="800" spc="-10" dirty="0">
                <a:solidFill>
                  <a:srgbClr val="FFFFFF"/>
                </a:solidFill>
                <a:latin typeface="Verdana"/>
                <a:cs typeface="Verdana"/>
              </a:rPr>
              <a:t>trust</a:t>
            </a:r>
            <a:r>
              <a:rPr sz="800" spc="-20" dirty="0">
                <a:solidFill>
                  <a:srgbClr val="FFFFFF"/>
                </a:solidFill>
                <a:latin typeface="Verdana"/>
                <a:cs typeface="Verdana"/>
              </a:rPr>
              <a:t> </a:t>
            </a:r>
            <a:r>
              <a:rPr sz="800" dirty="0">
                <a:solidFill>
                  <a:srgbClr val="FFFFFF"/>
                </a:solidFill>
                <a:latin typeface="Verdana"/>
                <a:cs typeface="Verdana"/>
              </a:rPr>
              <a:t>and</a:t>
            </a:r>
            <a:r>
              <a:rPr sz="800" spc="-15" dirty="0">
                <a:solidFill>
                  <a:srgbClr val="FFFFFF"/>
                </a:solidFill>
                <a:latin typeface="Verdana"/>
                <a:cs typeface="Verdana"/>
              </a:rPr>
              <a:t> </a:t>
            </a:r>
            <a:r>
              <a:rPr sz="800" spc="-10" dirty="0">
                <a:solidFill>
                  <a:srgbClr val="FFFFFF"/>
                </a:solidFill>
                <a:latin typeface="Verdana"/>
                <a:cs typeface="Verdana"/>
              </a:rPr>
              <a:t>confidence </a:t>
            </a:r>
            <a:r>
              <a:rPr sz="800" dirty="0">
                <a:solidFill>
                  <a:srgbClr val="FFFFFF"/>
                </a:solidFill>
                <a:latin typeface="Verdana"/>
                <a:cs typeface="Verdana"/>
              </a:rPr>
              <a:t>among</a:t>
            </a:r>
            <a:r>
              <a:rPr sz="800" spc="45" dirty="0">
                <a:solidFill>
                  <a:srgbClr val="FFFFFF"/>
                </a:solidFill>
                <a:latin typeface="Verdana"/>
                <a:cs typeface="Verdana"/>
              </a:rPr>
              <a:t> </a:t>
            </a:r>
            <a:r>
              <a:rPr sz="800" spc="-10" dirty="0">
                <a:solidFill>
                  <a:srgbClr val="FFFFFF"/>
                </a:solidFill>
                <a:latin typeface="Verdana"/>
                <a:cs typeface="Verdana"/>
              </a:rPr>
              <a:t>users.</a:t>
            </a:r>
            <a:endParaRPr sz="800">
              <a:latin typeface="Verdana"/>
              <a:cs typeface="Verdana"/>
            </a:endParaRPr>
          </a:p>
        </p:txBody>
      </p:sp>
      <p:pic>
        <p:nvPicPr>
          <p:cNvPr id="4" name="object 4"/>
          <p:cNvPicPr/>
          <p:nvPr/>
        </p:nvPicPr>
        <p:blipFill>
          <a:blip r:embed="rId2" cstate="print"/>
          <a:stretch>
            <a:fillRect/>
          </a:stretch>
        </p:blipFill>
        <p:spPr>
          <a:xfrm>
            <a:off x="1515" y="8"/>
            <a:ext cx="2922611" cy="32879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12" y="8"/>
            <a:ext cx="2924175" cy="3288029"/>
            <a:chOff x="1512" y="8"/>
            <a:chExt cx="2924175" cy="3288029"/>
          </a:xfrm>
        </p:grpSpPr>
        <p:sp>
          <p:nvSpPr>
            <p:cNvPr id="3" name="object 3"/>
            <p:cNvSpPr/>
            <p:nvPr/>
          </p:nvSpPr>
          <p:spPr>
            <a:xfrm>
              <a:off x="1512" y="8"/>
              <a:ext cx="2924175" cy="3288029"/>
            </a:xfrm>
            <a:custGeom>
              <a:avLst/>
              <a:gdLst/>
              <a:ahLst/>
              <a:cxnLst/>
              <a:rect l="l" t="t" r="r" b="b"/>
              <a:pathLst>
                <a:path w="2924175" h="3288029">
                  <a:moveTo>
                    <a:pt x="2923757" y="0"/>
                  </a:moveTo>
                  <a:lnTo>
                    <a:pt x="0" y="0"/>
                  </a:lnTo>
                  <a:lnTo>
                    <a:pt x="0" y="3287938"/>
                  </a:lnTo>
                  <a:lnTo>
                    <a:pt x="2923757" y="3287938"/>
                  </a:lnTo>
                  <a:lnTo>
                    <a:pt x="2923757"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428210" y="365330"/>
              <a:ext cx="2067135" cy="2557284"/>
            </a:xfrm>
            <a:prstGeom prst="rect">
              <a:avLst/>
            </a:prstGeom>
          </p:spPr>
        </p:pic>
      </p:grpSp>
      <p:sp>
        <p:nvSpPr>
          <p:cNvPr id="5" name="object 5"/>
          <p:cNvSpPr txBox="1">
            <a:spLocks noGrp="1"/>
          </p:cNvSpPr>
          <p:nvPr>
            <p:ph type="title"/>
          </p:nvPr>
        </p:nvSpPr>
        <p:spPr>
          <a:xfrm>
            <a:off x="3365909" y="468942"/>
            <a:ext cx="1947545" cy="1296670"/>
          </a:xfrm>
          <a:prstGeom prst="rect">
            <a:avLst/>
          </a:prstGeom>
        </p:spPr>
        <p:txBody>
          <a:bodyPr vert="horz" wrap="square" lIns="0" tIns="19685" rIns="0" bIns="0" rtlCol="0">
            <a:spAutoFit/>
          </a:bodyPr>
          <a:lstStyle/>
          <a:p>
            <a:pPr marL="12700" marR="776605">
              <a:lnSpc>
                <a:spcPts val="1490"/>
              </a:lnSpc>
              <a:spcBef>
                <a:spcPts val="155"/>
              </a:spcBef>
            </a:pPr>
            <a:r>
              <a:rPr sz="1250" dirty="0">
                <a:solidFill>
                  <a:srgbClr val="000000"/>
                </a:solidFill>
              </a:rPr>
              <a:t>Measuring</a:t>
            </a:r>
            <a:r>
              <a:rPr sz="1250" spc="60" dirty="0">
                <a:solidFill>
                  <a:srgbClr val="000000"/>
                </a:solidFill>
              </a:rPr>
              <a:t> </a:t>
            </a:r>
            <a:r>
              <a:rPr sz="1250" spc="-25" dirty="0">
                <a:solidFill>
                  <a:srgbClr val="000000"/>
                </a:solidFill>
              </a:rPr>
              <a:t>User </a:t>
            </a:r>
            <a:r>
              <a:rPr sz="1250" spc="-10" dirty="0">
                <a:solidFill>
                  <a:srgbClr val="000000"/>
                </a:solidFill>
                <a:latin typeface="Trebuchet MS"/>
                <a:cs typeface="Trebuchet MS"/>
              </a:rPr>
              <a:t>Satisfaction</a:t>
            </a:r>
            <a:endParaRPr sz="1250">
              <a:latin typeface="Trebuchet MS"/>
              <a:cs typeface="Trebuchet MS"/>
            </a:endParaRPr>
          </a:p>
          <a:p>
            <a:pPr marL="12700" marR="5080">
              <a:lnSpc>
                <a:spcPct val="100000"/>
              </a:lnSpc>
              <a:spcBef>
                <a:spcPts val="260"/>
              </a:spcBef>
            </a:pPr>
            <a:r>
              <a:rPr sz="800" b="0" dirty="0">
                <a:solidFill>
                  <a:srgbClr val="000000"/>
                </a:solidFill>
                <a:latin typeface="Verdana"/>
                <a:cs typeface="Verdana"/>
              </a:rPr>
              <a:t>Measuring</a:t>
            </a:r>
            <a:r>
              <a:rPr sz="800" b="0" spc="-25" dirty="0">
                <a:solidFill>
                  <a:srgbClr val="000000"/>
                </a:solidFill>
                <a:latin typeface="Verdana"/>
                <a:cs typeface="Verdana"/>
              </a:rPr>
              <a:t> </a:t>
            </a:r>
            <a:r>
              <a:rPr sz="800" b="0" spc="-20" dirty="0">
                <a:solidFill>
                  <a:srgbClr val="000000"/>
                </a:solidFill>
                <a:latin typeface="Verdana"/>
                <a:cs typeface="Verdana"/>
              </a:rPr>
              <a:t>user</a:t>
            </a:r>
            <a:r>
              <a:rPr sz="800" b="0" spc="-25" dirty="0">
                <a:solidFill>
                  <a:srgbClr val="000000"/>
                </a:solidFill>
                <a:latin typeface="Verdana"/>
                <a:cs typeface="Verdana"/>
              </a:rPr>
              <a:t> </a:t>
            </a:r>
            <a:r>
              <a:rPr sz="800" b="0" spc="-10" dirty="0">
                <a:solidFill>
                  <a:srgbClr val="000000"/>
                </a:solidFill>
                <a:latin typeface="Verdana"/>
                <a:cs typeface="Verdana"/>
              </a:rPr>
              <a:t>satisfaction</a:t>
            </a:r>
            <a:r>
              <a:rPr sz="800" b="0" spc="-25" dirty="0">
                <a:solidFill>
                  <a:srgbClr val="000000"/>
                </a:solidFill>
                <a:latin typeface="Verdana"/>
                <a:cs typeface="Verdana"/>
              </a:rPr>
              <a:t> and </a:t>
            </a:r>
            <a:r>
              <a:rPr sz="800" b="0" dirty="0">
                <a:solidFill>
                  <a:srgbClr val="000000"/>
                </a:solidFill>
                <a:latin typeface="Verdana"/>
                <a:cs typeface="Verdana"/>
              </a:rPr>
              <a:t>feedback</a:t>
            </a:r>
            <a:r>
              <a:rPr sz="800" b="0" spc="-45" dirty="0">
                <a:solidFill>
                  <a:srgbClr val="000000"/>
                </a:solidFill>
                <a:latin typeface="Verdana"/>
                <a:cs typeface="Verdana"/>
              </a:rPr>
              <a:t> </a:t>
            </a:r>
            <a:r>
              <a:rPr sz="800" b="0" spc="-25" dirty="0">
                <a:solidFill>
                  <a:srgbClr val="000000"/>
                </a:solidFill>
                <a:latin typeface="Verdana"/>
                <a:cs typeface="Verdana"/>
              </a:rPr>
              <a:t>is</a:t>
            </a:r>
            <a:r>
              <a:rPr sz="800" b="0" spc="-45" dirty="0">
                <a:solidFill>
                  <a:srgbClr val="000000"/>
                </a:solidFill>
                <a:latin typeface="Verdana"/>
                <a:cs typeface="Verdana"/>
              </a:rPr>
              <a:t> </a:t>
            </a:r>
            <a:r>
              <a:rPr sz="800" b="0" dirty="0">
                <a:solidFill>
                  <a:srgbClr val="000000"/>
                </a:solidFill>
                <a:latin typeface="Verdana"/>
                <a:cs typeface="Verdana"/>
              </a:rPr>
              <a:t>crucial</a:t>
            </a:r>
            <a:r>
              <a:rPr sz="800" b="0" spc="-40" dirty="0">
                <a:solidFill>
                  <a:srgbClr val="000000"/>
                </a:solidFill>
                <a:latin typeface="Verdana"/>
                <a:cs typeface="Verdana"/>
              </a:rPr>
              <a:t> </a:t>
            </a:r>
            <a:r>
              <a:rPr sz="800" b="0" spc="-25" dirty="0">
                <a:solidFill>
                  <a:srgbClr val="000000"/>
                </a:solidFill>
                <a:latin typeface="Verdana"/>
                <a:cs typeface="Verdana"/>
              </a:rPr>
              <a:t>for</a:t>
            </a:r>
            <a:r>
              <a:rPr sz="800" b="0" spc="-45" dirty="0">
                <a:solidFill>
                  <a:srgbClr val="000000"/>
                </a:solidFill>
                <a:latin typeface="Verdana"/>
                <a:cs typeface="Verdana"/>
              </a:rPr>
              <a:t> </a:t>
            </a:r>
            <a:r>
              <a:rPr sz="800" b="0" dirty="0">
                <a:solidFill>
                  <a:srgbClr val="000000"/>
                </a:solidFill>
                <a:latin typeface="Verdana"/>
                <a:cs typeface="Verdana"/>
              </a:rPr>
              <a:t>refining</a:t>
            </a:r>
            <a:r>
              <a:rPr sz="800" b="0" spc="-45" dirty="0">
                <a:solidFill>
                  <a:srgbClr val="000000"/>
                </a:solidFill>
                <a:latin typeface="Verdana"/>
                <a:cs typeface="Verdana"/>
              </a:rPr>
              <a:t> </a:t>
            </a:r>
            <a:r>
              <a:rPr sz="800" b="0" spc="-25" dirty="0">
                <a:solidFill>
                  <a:srgbClr val="000000"/>
                </a:solidFill>
                <a:latin typeface="Verdana"/>
                <a:cs typeface="Verdana"/>
              </a:rPr>
              <a:t>and </a:t>
            </a:r>
            <a:r>
              <a:rPr sz="800" b="0" dirty="0">
                <a:solidFill>
                  <a:srgbClr val="000000"/>
                </a:solidFill>
                <a:latin typeface="Verdana"/>
                <a:cs typeface="Verdana"/>
              </a:rPr>
              <a:t>improving</a:t>
            </a:r>
            <a:r>
              <a:rPr sz="800" b="0" spc="-20" dirty="0">
                <a:solidFill>
                  <a:srgbClr val="000000"/>
                </a:solidFill>
                <a:latin typeface="Verdana"/>
                <a:cs typeface="Verdana"/>
              </a:rPr>
              <a:t> </a:t>
            </a:r>
            <a:r>
              <a:rPr sz="800" b="0" dirty="0">
                <a:solidFill>
                  <a:srgbClr val="000000"/>
                </a:solidFill>
                <a:latin typeface="Verdana"/>
                <a:cs typeface="Verdana"/>
              </a:rPr>
              <a:t>the</a:t>
            </a:r>
            <a:r>
              <a:rPr sz="800" b="0" spc="-15" dirty="0">
                <a:solidFill>
                  <a:srgbClr val="000000"/>
                </a:solidFill>
                <a:latin typeface="Verdana"/>
                <a:cs typeface="Verdana"/>
              </a:rPr>
              <a:t> </a:t>
            </a:r>
            <a:r>
              <a:rPr sz="800" b="0" dirty="0">
                <a:solidFill>
                  <a:srgbClr val="000000"/>
                </a:solidFill>
                <a:latin typeface="Verdana"/>
                <a:cs typeface="Verdana"/>
              </a:rPr>
              <a:t>chatbot</a:t>
            </a:r>
            <a:r>
              <a:rPr sz="800" b="0" spc="-15" dirty="0">
                <a:solidFill>
                  <a:srgbClr val="000000"/>
                </a:solidFill>
                <a:latin typeface="Verdana"/>
                <a:cs typeface="Verdana"/>
              </a:rPr>
              <a:t> </a:t>
            </a:r>
            <a:r>
              <a:rPr sz="800" b="0" spc="-25" dirty="0">
                <a:solidFill>
                  <a:srgbClr val="000000"/>
                </a:solidFill>
                <a:latin typeface="Verdana"/>
                <a:cs typeface="Verdana"/>
              </a:rPr>
              <a:t>experience.</a:t>
            </a:r>
            <a:r>
              <a:rPr sz="800" b="0" spc="-15" dirty="0">
                <a:solidFill>
                  <a:srgbClr val="000000"/>
                </a:solidFill>
                <a:latin typeface="Verdana"/>
                <a:cs typeface="Verdana"/>
              </a:rPr>
              <a:t> </a:t>
            </a:r>
            <a:r>
              <a:rPr sz="800" b="0" spc="-25" dirty="0">
                <a:solidFill>
                  <a:srgbClr val="000000"/>
                </a:solidFill>
                <a:latin typeface="Verdana"/>
                <a:cs typeface="Verdana"/>
              </a:rPr>
              <a:t>By </a:t>
            </a:r>
            <a:r>
              <a:rPr sz="800" b="0" dirty="0">
                <a:solidFill>
                  <a:srgbClr val="000000"/>
                </a:solidFill>
                <a:latin typeface="Verdana"/>
                <a:cs typeface="Verdana"/>
              </a:rPr>
              <a:t>gathering</a:t>
            </a:r>
            <a:r>
              <a:rPr sz="800" b="0" spc="-35" dirty="0">
                <a:solidFill>
                  <a:srgbClr val="000000"/>
                </a:solidFill>
                <a:latin typeface="Verdana"/>
                <a:cs typeface="Verdana"/>
              </a:rPr>
              <a:t> </a:t>
            </a:r>
            <a:r>
              <a:rPr sz="800" b="0" dirty="0">
                <a:solidFill>
                  <a:srgbClr val="000000"/>
                </a:solidFill>
                <a:latin typeface="Verdana"/>
                <a:cs typeface="Verdana"/>
              </a:rPr>
              <a:t>and</a:t>
            </a:r>
            <a:r>
              <a:rPr sz="800" b="0" spc="-30" dirty="0">
                <a:solidFill>
                  <a:srgbClr val="000000"/>
                </a:solidFill>
                <a:latin typeface="Verdana"/>
                <a:cs typeface="Verdana"/>
              </a:rPr>
              <a:t> </a:t>
            </a:r>
            <a:r>
              <a:rPr sz="800" b="0" spc="-10" dirty="0">
                <a:solidFill>
                  <a:srgbClr val="000000"/>
                </a:solidFill>
                <a:latin typeface="Verdana"/>
                <a:cs typeface="Verdana"/>
              </a:rPr>
              <a:t>analyzing</a:t>
            </a:r>
            <a:r>
              <a:rPr sz="800" b="0" spc="-35" dirty="0">
                <a:solidFill>
                  <a:srgbClr val="000000"/>
                </a:solidFill>
                <a:latin typeface="Verdana"/>
                <a:cs typeface="Verdana"/>
              </a:rPr>
              <a:t> </a:t>
            </a:r>
            <a:r>
              <a:rPr sz="800" b="0" spc="-20" dirty="0">
                <a:solidFill>
                  <a:srgbClr val="000000"/>
                </a:solidFill>
                <a:latin typeface="Verdana"/>
                <a:cs typeface="Verdana"/>
              </a:rPr>
              <a:t>user</a:t>
            </a:r>
            <a:r>
              <a:rPr sz="800" b="0" spc="-30" dirty="0">
                <a:solidFill>
                  <a:srgbClr val="000000"/>
                </a:solidFill>
                <a:latin typeface="Verdana"/>
                <a:cs typeface="Verdana"/>
              </a:rPr>
              <a:t> </a:t>
            </a:r>
            <a:r>
              <a:rPr sz="800" b="0" spc="-10" dirty="0">
                <a:solidFill>
                  <a:srgbClr val="000000"/>
                </a:solidFill>
                <a:latin typeface="Verdana"/>
                <a:cs typeface="Verdana"/>
              </a:rPr>
              <a:t>insights, </a:t>
            </a:r>
            <a:r>
              <a:rPr sz="800" b="0" dirty="0">
                <a:solidFill>
                  <a:srgbClr val="000000"/>
                </a:solidFill>
                <a:latin typeface="Verdana"/>
                <a:cs typeface="Verdana"/>
              </a:rPr>
              <a:t>we</a:t>
            </a:r>
            <a:r>
              <a:rPr sz="800" b="0" spc="-40" dirty="0">
                <a:solidFill>
                  <a:srgbClr val="000000"/>
                </a:solidFill>
                <a:latin typeface="Verdana"/>
                <a:cs typeface="Verdana"/>
              </a:rPr>
              <a:t> </a:t>
            </a:r>
            <a:r>
              <a:rPr sz="800" b="0" dirty="0">
                <a:solidFill>
                  <a:srgbClr val="000000"/>
                </a:solidFill>
                <a:latin typeface="Verdana"/>
                <a:cs typeface="Verdana"/>
              </a:rPr>
              <a:t>can</a:t>
            </a:r>
            <a:r>
              <a:rPr sz="800" b="0" spc="-35" dirty="0">
                <a:solidFill>
                  <a:srgbClr val="000000"/>
                </a:solidFill>
                <a:latin typeface="Verdana"/>
                <a:cs typeface="Verdana"/>
              </a:rPr>
              <a:t> </a:t>
            </a:r>
            <a:r>
              <a:rPr sz="800" b="0" dirty="0">
                <a:solidFill>
                  <a:srgbClr val="000000"/>
                </a:solidFill>
                <a:latin typeface="Verdana"/>
                <a:cs typeface="Verdana"/>
              </a:rPr>
              <a:t>continuously</a:t>
            </a:r>
            <a:r>
              <a:rPr sz="800" b="0" spc="-40" dirty="0">
                <a:solidFill>
                  <a:srgbClr val="000000"/>
                </a:solidFill>
                <a:latin typeface="Verdana"/>
                <a:cs typeface="Verdana"/>
              </a:rPr>
              <a:t> </a:t>
            </a:r>
            <a:r>
              <a:rPr sz="800" b="0" dirty="0">
                <a:solidFill>
                  <a:srgbClr val="000000"/>
                </a:solidFill>
                <a:latin typeface="Verdana"/>
                <a:cs typeface="Verdana"/>
              </a:rPr>
              <a:t>enhance</a:t>
            </a:r>
            <a:r>
              <a:rPr sz="800" b="0" spc="-35" dirty="0">
                <a:solidFill>
                  <a:srgbClr val="000000"/>
                </a:solidFill>
                <a:latin typeface="Verdana"/>
                <a:cs typeface="Verdana"/>
              </a:rPr>
              <a:t> </a:t>
            </a:r>
            <a:r>
              <a:rPr sz="800" b="0" spc="-25" dirty="0">
                <a:solidFill>
                  <a:srgbClr val="000000"/>
                </a:solidFill>
                <a:latin typeface="Verdana"/>
                <a:cs typeface="Verdana"/>
              </a:rPr>
              <a:t>the </a:t>
            </a:r>
            <a:r>
              <a:rPr sz="800" b="0" dirty="0">
                <a:solidFill>
                  <a:srgbClr val="000000"/>
                </a:solidFill>
                <a:latin typeface="Verdana"/>
                <a:cs typeface="Verdana"/>
              </a:rPr>
              <a:t>chatbot's</a:t>
            </a:r>
            <a:r>
              <a:rPr sz="800" b="0" spc="-50" dirty="0">
                <a:solidFill>
                  <a:srgbClr val="000000"/>
                </a:solidFill>
                <a:latin typeface="Verdana"/>
                <a:cs typeface="Verdana"/>
              </a:rPr>
              <a:t> </a:t>
            </a:r>
            <a:r>
              <a:rPr sz="800" b="0" dirty="0">
                <a:solidFill>
                  <a:srgbClr val="000000"/>
                </a:solidFill>
                <a:latin typeface="Verdana"/>
                <a:cs typeface="Verdana"/>
              </a:rPr>
              <a:t>performance</a:t>
            </a:r>
            <a:r>
              <a:rPr sz="800" b="0" spc="-45" dirty="0">
                <a:solidFill>
                  <a:srgbClr val="000000"/>
                </a:solidFill>
                <a:latin typeface="Verdana"/>
                <a:cs typeface="Verdana"/>
              </a:rPr>
              <a:t> </a:t>
            </a:r>
            <a:r>
              <a:rPr sz="800" b="0" dirty="0">
                <a:solidFill>
                  <a:srgbClr val="000000"/>
                </a:solidFill>
                <a:latin typeface="Verdana"/>
                <a:cs typeface="Verdana"/>
              </a:rPr>
              <a:t>and</a:t>
            </a:r>
            <a:r>
              <a:rPr sz="800" b="0" spc="-50" dirty="0">
                <a:solidFill>
                  <a:srgbClr val="000000"/>
                </a:solidFill>
                <a:latin typeface="Verdana"/>
                <a:cs typeface="Verdana"/>
              </a:rPr>
              <a:t> </a:t>
            </a:r>
            <a:r>
              <a:rPr sz="800" b="0" spc="-20" dirty="0">
                <a:solidFill>
                  <a:srgbClr val="000000"/>
                </a:solidFill>
                <a:latin typeface="Verdana"/>
                <a:cs typeface="Verdana"/>
              </a:rPr>
              <a:t>user </a:t>
            </a:r>
            <a:r>
              <a:rPr sz="800" b="0" spc="-10" dirty="0">
                <a:solidFill>
                  <a:srgbClr val="000000"/>
                </a:solidFill>
                <a:latin typeface="Verdana"/>
                <a:cs typeface="Verdana"/>
              </a:rPr>
              <a:t>satisfaction.</a:t>
            </a:r>
            <a:endParaRPr sz="800">
              <a:latin typeface="Verdana"/>
              <a:cs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12" y="8"/>
            <a:ext cx="2924175" cy="3288029"/>
            <a:chOff x="1512" y="8"/>
            <a:chExt cx="2924175" cy="3288029"/>
          </a:xfrm>
        </p:grpSpPr>
        <p:sp>
          <p:nvSpPr>
            <p:cNvPr id="3" name="object 3"/>
            <p:cNvSpPr/>
            <p:nvPr/>
          </p:nvSpPr>
          <p:spPr>
            <a:xfrm>
              <a:off x="1512" y="8"/>
              <a:ext cx="2924175" cy="3288029"/>
            </a:xfrm>
            <a:custGeom>
              <a:avLst/>
              <a:gdLst/>
              <a:ahLst/>
              <a:cxnLst/>
              <a:rect l="l" t="t" r="r" b="b"/>
              <a:pathLst>
                <a:path w="2924175" h="3288029">
                  <a:moveTo>
                    <a:pt x="2923757" y="0"/>
                  </a:moveTo>
                  <a:lnTo>
                    <a:pt x="0" y="0"/>
                  </a:lnTo>
                  <a:lnTo>
                    <a:pt x="0" y="3287938"/>
                  </a:lnTo>
                  <a:lnTo>
                    <a:pt x="2923757" y="3287938"/>
                  </a:lnTo>
                  <a:lnTo>
                    <a:pt x="2923757"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428210" y="365330"/>
              <a:ext cx="2067135" cy="2557284"/>
            </a:xfrm>
            <a:prstGeom prst="rect">
              <a:avLst/>
            </a:prstGeom>
          </p:spPr>
        </p:pic>
      </p:grpSp>
      <p:sp>
        <p:nvSpPr>
          <p:cNvPr id="5" name="object 5"/>
          <p:cNvSpPr txBox="1">
            <a:spLocks noGrp="1"/>
          </p:cNvSpPr>
          <p:nvPr>
            <p:ph type="title"/>
          </p:nvPr>
        </p:nvSpPr>
        <p:spPr>
          <a:xfrm>
            <a:off x="3365908" y="471982"/>
            <a:ext cx="2000250" cy="219075"/>
          </a:xfrm>
          <a:prstGeom prst="rect">
            <a:avLst/>
          </a:prstGeom>
        </p:spPr>
        <p:txBody>
          <a:bodyPr vert="horz" wrap="square" lIns="0" tIns="15240" rIns="0" bIns="0" rtlCol="0">
            <a:spAutoFit/>
          </a:bodyPr>
          <a:lstStyle/>
          <a:p>
            <a:pPr marL="12700">
              <a:lnSpc>
                <a:spcPct val="100000"/>
              </a:lnSpc>
              <a:spcBef>
                <a:spcPts val="120"/>
              </a:spcBef>
            </a:pPr>
            <a:r>
              <a:rPr sz="1250" dirty="0">
                <a:solidFill>
                  <a:srgbClr val="000000"/>
                </a:solidFill>
              </a:rPr>
              <a:t>Adapting</a:t>
            </a:r>
            <a:r>
              <a:rPr sz="1250" spc="15" dirty="0">
                <a:solidFill>
                  <a:srgbClr val="000000"/>
                </a:solidFill>
              </a:rPr>
              <a:t> </a:t>
            </a:r>
            <a:r>
              <a:rPr sz="1250" dirty="0">
                <a:solidFill>
                  <a:srgbClr val="000000"/>
                </a:solidFill>
              </a:rPr>
              <a:t>to</a:t>
            </a:r>
            <a:r>
              <a:rPr sz="1250" spc="30" dirty="0">
                <a:solidFill>
                  <a:srgbClr val="000000"/>
                </a:solidFill>
              </a:rPr>
              <a:t> </a:t>
            </a:r>
            <a:r>
              <a:rPr sz="1250" dirty="0">
                <a:solidFill>
                  <a:srgbClr val="000000"/>
                </a:solidFill>
              </a:rPr>
              <a:t>User</a:t>
            </a:r>
            <a:r>
              <a:rPr sz="1250" spc="5" dirty="0">
                <a:solidFill>
                  <a:srgbClr val="000000"/>
                </a:solidFill>
              </a:rPr>
              <a:t> </a:t>
            </a:r>
            <a:r>
              <a:rPr sz="1250" spc="-10" dirty="0">
                <a:solidFill>
                  <a:srgbClr val="000000"/>
                </a:solidFill>
              </a:rPr>
              <a:t>Feedback</a:t>
            </a:r>
            <a:endParaRPr sz="1250"/>
          </a:p>
        </p:txBody>
      </p:sp>
      <p:sp>
        <p:nvSpPr>
          <p:cNvPr id="6" name="object 6"/>
          <p:cNvSpPr txBox="1"/>
          <p:nvPr/>
        </p:nvSpPr>
        <p:spPr>
          <a:xfrm>
            <a:off x="3365909" y="888723"/>
            <a:ext cx="1882775" cy="876935"/>
          </a:xfrm>
          <a:prstGeom prst="rect">
            <a:avLst/>
          </a:prstGeom>
        </p:spPr>
        <p:txBody>
          <a:bodyPr vert="horz" wrap="square" lIns="0" tIns="11430" rIns="0" bIns="0" rtlCol="0">
            <a:spAutoFit/>
          </a:bodyPr>
          <a:lstStyle/>
          <a:p>
            <a:pPr marL="12700" marR="5080">
              <a:lnSpc>
                <a:spcPct val="100000"/>
              </a:lnSpc>
              <a:spcBef>
                <a:spcPts val="90"/>
              </a:spcBef>
            </a:pPr>
            <a:r>
              <a:rPr sz="800" dirty="0">
                <a:latin typeface="Verdana"/>
                <a:cs typeface="Verdana"/>
              </a:rPr>
              <a:t>Adapting</a:t>
            </a:r>
            <a:r>
              <a:rPr sz="800" spc="-30" dirty="0">
                <a:latin typeface="Verdana"/>
                <a:cs typeface="Verdana"/>
              </a:rPr>
              <a:t> </a:t>
            </a:r>
            <a:r>
              <a:rPr sz="800" spc="-10" dirty="0">
                <a:latin typeface="Verdana"/>
                <a:cs typeface="Verdana"/>
              </a:rPr>
              <a:t>to</a:t>
            </a:r>
            <a:r>
              <a:rPr sz="800" spc="-25" dirty="0">
                <a:latin typeface="Verdana"/>
                <a:cs typeface="Verdana"/>
              </a:rPr>
              <a:t> </a:t>
            </a:r>
            <a:r>
              <a:rPr sz="800" spc="-10" dirty="0">
                <a:latin typeface="Verdana"/>
                <a:cs typeface="Verdana"/>
              </a:rPr>
              <a:t>user</a:t>
            </a:r>
            <a:r>
              <a:rPr sz="800" spc="-30" dirty="0">
                <a:latin typeface="Verdana"/>
                <a:cs typeface="Verdana"/>
              </a:rPr>
              <a:t> </a:t>
            </a:r>
            <a:r>
              <a:rPr sz="800" dirty="0">
                <a:latin typeface="Verdana"/>
                <a:cs typeface="Verdana"/>
              </a:rPr>
              <a:t>feedback</a:t>
            </a:r>
            <a:r>
              <a:rPr sz="800" spc="-25" dirty="0">
                <a:latin typeface="Verdana"/>
                <a:cs typeface="Verdana"/>
              </a:rPr>
              <a:t> and </a:t>
            </a:r>
            <a:r>
              <a:rPr sz="800" spc="-20" dirty="0">
                <a:latin typeface="Verdana"/>
                <a:cs typeface="Verdana"/>
              </a:rPr>
              <a:t>evolving</a:t>
            </a:r>
            <a:r>
              <a:rPr sz="800" spc="-45" dirty="0">
                <a:latin typeface="Verdana"/>
                <a:cs typeface="Verdana"/>
              </a:rPr>
              <a:t> </a:t>
            </a:r>
            <a:r>
              <a:rPr sz="800" spc="-10" dirty="0">
                <a:latin typeface="Verdana"/>
                <a:cs typeface="Verdana"/>
              </a:rPr>
              <a:t>user</a:t>
            </a:r>
            <a:r>
              <a:rPr sz="800" spc="-45" dirty="0">
                <a:latin typeface="Verdana"/>
                <a:cs typeface="Verdana"/>
              </a:rPr>
              <a:t> </a:t>
            </a:r>
            <a:r>
              <a:rPr sz="800" spc="-10" dirty="0">
                <a:latin typeface="Verdana"/>
                <a:cs typeface="Verdana"/>
              </a:rPr>
              <a:t>preferences</a:t>
            </a:r>
            <a:r>
              <a:rPr sz="800" spc="-45" dirty="0">
                <a:latin typeface="Verdana"/>
                <a:cs typeface="Verdana"/>
              </a:rPr>
              <a:t> </a:t>
            </a:r>
            <a:r>
              <a:rPr sz="800" spc="-30" dirty="0">
                <a:latin typeface="Verdana"/>
                <a:cs typeface="Verdana"/>
              </a:rPr>
              <a:t>is</a:t>
            </a:r>
            <a:r>
              <a:rPr sz="800" spc="-45" dirty="0">
                <a:latin typeface="Verdana"/>
                <a:cs typeface="Verdana"/>
              </a:rPr>
              <a:t> </a:t>
            </a:r>
            <a:r>
              <a:rPr sz="800" spc="-10" dirty="0">
                <a:latin typeface="Verdana"/>
                <a:cs typeface="Verdana"/>
              </a:rPr>
              <a:t>essential </a:t>
            </a:r>
            <a:r>
              <a:rPr sz="800" spc="-25" dirty="0">
                <a:latin typeface="Verdana"/>
                <a:cs typeface="Verdana"/>
              </a:rPr>
              <a:t>for</a:t>
            </a:r>
            <a:r>
              <a:rPr sz="800" dirty="0">
                <a:latin typeface="Verdana"/>
                <a:cs typeface="Verdana"/>
              </a:rPr>
              <a:t> maintaining </a:t>
            </a:r>
            <a:r>
              <a:rPr sz="800" spc="-20" dirty="0">
                <a:latin typeface="Verdana"/>
                <a:cs typeface="Verdana"/>
              </a:rPr>
              <a:t>relevance</a:t>
            </a:r>
            <a:r>
              <a:rPr sz="800" spc="5" dirty="0">
                <a:latin typeface="Verdana"/>
                <a:cs typeface="Verdana"/>
              </a:rPr>
              <a:t> </a:t>
            </a:r>
            <a:r>
              <a:rPr sz="800" spc="-25" dirty="0">
                <a:latin typeface="Verdana"/>
                <a:cs typeface="Verdana"/>
              </a:rPr>
              <a:t>and effectiveness.</a:t>
            </a:r>
            <a:r>
              <a:rPr sz="800" spc="-30" dirty="0">
                <a:latin typeface="Verdana"/>
                <a:cs typeface="Verdana"/>
              </a:rPr>
              <a:t> </a:t>
            </a:r>
            <a:r>
              <a:rPr sz="800" dirty="0">
                <a:latin typeface="Verdana"/>
                <a:cs typeface="Verdana"/>
              </a:rPr>
              <a:t>By</a:t>
            </a:r>
            <a:r>
              <a:rPr sz="800" spc="-30" dirty="0">
                <a:latin typeface="Verdana"/>
                <a:cs typeface="Verdana"/>
              </a:rPr>
              <a:t> </a:t>
            </a:r>
            <a:r>
              <a:rPr sz="800" dirty="0">
                <a:latin typeface="Verdana"/>
                <a:cs typeface="Verdana"/>
              </a:rPr>
              <a:t>incorporating</a:t>
            </a:r>
            <a:r>
              <a:rPr sz="800" spc="-25" dirty="0">
                <a:latin typeface="Verdana"/>
                <a:cs typeface="Verdana"/>
              </a:rPr>
              <a:t> </a:t>
            </a:r>
            <a:r>
              <a:rPr sz="800" spc="-20" dirty="0">
                <a:latin typeface="Verdana"/>
                <a:cs typeface="Verdana"/>
              </a:rPr>
              <a:t>user </a:t>
            </a:r>
            <a:r>
              <a:rPr sz="800" dirty="0">
                <a:latin typeface="Verdana"/>
                <a:cs typeface="Verdana"/>
              </a:rPr>
              <a:t>suggestions</a:t>
            </a:r>
            <a:r>
              <a:rPr sz="800" spc="-45" dirty="0">
                <a:latin typeface="Verdana"/>
                <a:cs typeface="Verdana"/>
              </a:rPr>
              <a:t> </a:t>
            </a:r>
            <a:r>
              <a:rPr sz="800" dirty="0">
                <a:latin typeface="Verdana"/>
                <a:cs typeface="Verdana"/>
              </a:rPr>
              <a:t>and</a:t>
            </a:r>
            <a:r>
              <a:rPr sz="800" spc="-40" dirty="0">
                <a:latin typeface="Verdana"/>
                <a:cs typeface="Verdana"/>
              </a:rPr>
              <a:t> </a:t>
            </a:r>
            <a:r>
              <a:rPr sz="800" spc="-10" dirty="0">
                <a:latin typeface="Verdana"/>
                <a:cs typeface="Verdana"/>
              </a:rPr>
              <a:t>feedback,</a:t>
            </a:r>
            <a:r>
              <a:rPr sz="800" spc="-45" dirty="0">
                <a:latin typeface="Verdana"/>
                <a:cs typeface="Verdana"/>
              </a:rPr>
              <a:t> </a:t>
            </a:r>
            <a:r>
              <a:rPr sz="800" dirty="0">
                <a:latin typeface="Verdana"/>
                <a:cs typeface="Verdana"/>
              </a:rPr>
              <a:t>we</a:t>
            </a:r>
            <a:r>
              <a:rPr sz="800" spc="-40" dirty="0">
                <a:latin typeface="Verdana"/>
                <a:cs typeface="Verdana"/>
              </a:rPr>
              <a:t> </a:t>
            </a:r>
            <a:r>
              <a:rPr sz="800" spc="-25" dirty="0">
                <a:latin typeface="Verdana"/>
                <a:cs typeface="Verdana"/>
              </a:rPr>
              <a:t>can </a:t>
            </a:r>
            <a:r>
              <a:rPr sz="800" spc="-10" dirty="0">
                <a:latin typeface="Verdana"/>
                <a:cs typeface="Verdana"/>
              </a:rPr>
              <a:t>ensure</a:t>
            </a:r>
            <a:r>
              <a:rPr sz="800" spc="-45" dirty="0">
                <a:latin typeface="Verdana"/>
                <a:cs typeface="Verdana"/>
              </a:rPr>
              <a:t> </a:t>
            </a:r>
            <a:r>
              <a:rPr sz="800" dirty="0">
                <a:latin typeface="Verdana"/>
                <a:cs typeface="Verdana"/>
              </a:rPr>
              <a:t>that</a:t>
            </a:r>
            <a:r>
              <a:rPr sz="800" spc="-40" dirty="0">
                <a:latin typeface="Verdana"/>
                <a:cs typeface="Verdana"/>
              </a:rPr>
              <a:t> </a:t>
            </a:r>
            <a:r>
              <a:rPr sz="800" dirty="0">
                <a:latin typeface="Verdana"/>
                <a:cs typeface="Verdana"/>
              </a:rPr>
              <a:t>the</a:t>
            </a:r>
            <a:r>
              <a:rPr sz="800" spc="-40" dirty="0">
                <a:latin typeface="Verdana"/>
                <a:cs typeface="Verdana"/>
              </a:rPr>
              <a:t> </a:t>
            </a:r>
            <a:r>
              <a:rPr sz="800" dirty="0">
                <a:latin typeface="Verdana"/>
                <a:cs typeface="Verdana"/>
              </a:rPr>
              <a:t>chatbot</a:t>
            </a:r>
            <a:r>
              <a:rPr sz="800" spc="-45" dirty="0">
                <a:latin typeface="Verdana"/>
                <a:cs typeface="Verdana"/>
              </a:rPr>
              <a:t> </a:t>
            </a:r>
            <a:r>
              <a:rPr sz="800" dirty="0">
                <a:latin typeface="Verdana"/>
                <a:cs typeface="Verdana"/>
              </a:rPr>
              <a:t>continues</a:t>
            </a:r>
            <a:r>
              <a:rPr sz="800" spc="-40" dirty="0">
                <a:latin typeface="Verdana"/>
                <a:cs typeface="Verdana"/>
              </a:rPr>
              <a:t> </a:t>
            </a:r>
            <a:r>
              <a:rPr sz="800" spc="-25" dirty="0">
                <a:latin typeface="Verdana"/>
                <a:cs typeface="Verdana"/>
              </a:rPr>
              <a:t>to </a:t>
            </a:r>
            <a:r>
              <a:rPr sz="800" dirty="0">
                <a:latin typeface="Verdana"/>
                <a:cs typeface="Verdana"/>
              </a:rPr>
              <a:t>meet</a:t>
            </a:r>
            <a:r>
              <a:rPr sz="800" spc="-45" dirty="0">
                <a:latin typeface="Verdana"/>
                <a:cs typeface="Verdana"/>
              </a:rPr>
              <a:t> </a:t>
            </a:r>
            <a:r>
              <a:rPr sz="800" spc="-10" dirty="0">
                <a:latin typeface="Verdana"/>
                <a:cs typeface="Verdana"/>
              </a:rPr>
              <a:t>user</a:t>
            </a:r>
            <a:r>
              <a:rPr sz="800" spc="-40" dirty="0">
                <a:latin typeface="Verdana"/>
                <a:cs typeface="Verdana"/>
              </a:rPr>
              <a:t> </a:t>
            </a:r>
            <a:r>
              <a:rPr sz="800" dirty="0">
                <a:latin typeface="Verdana"/>
                <a:cs typeface="Verdana"/>
              </a:rPr>
              <a:t>needs</a:t>
            </a:r>
            <a:r>
              <a:rPr sz="800" spc="-40" dirty="0">
                <a:latin typeface="Verdana"/>
                <a:cs typeface="Verdana"/>
              </a:rPr>
              <a:t> </a:t>
            </a:r>
            <a:r>
              <a:rPr sz="800" dirty="0">
                <a:latin typeface="Verdana"/>
                <a:cs typeface="Verdana"/>
              </a:rPr>
              <a:t>and</a:t>
            </a:r>
            <a:r>
              <a:rPr sz="800" spc="-40" dirty="0">
                <a:latin typeface="Verdana"/>
                <a:cs typeface="Verdana"/>
              </a:rPr>
              <a:t> </a:t>
            </a:r>
            <a:r>
              <a:rPr sz="800" spc="-10" dirty="0">
                <a:latin typeface="Verdana"/>
                <a:cs typeface="Verdana"/>
              </a:rPr>
              <a:t>expectations.</a:t>
            </a:r>
            <a:endParaRPr sz="80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800"/>
              </a:lnSpc>
              <a:spcBef>
                <a:spcPts val="100"/>
              </a:spcBef>
            </a:pPr>
            <a:r>
              <a:rPr dirty="0"/>
              <a:t>Embracing</a:t>
            </a:r>
            <a:r>
              <a:rPr spc="130" dirty="0"/>
              <a:t> </a:t>
            </a:r>
            <a:r>
              <a:rPr spc="-10" dirty="0"/>
              <a:t>Continuous Improvement</a:t>
            </a:r>
          </a:p>
        </p:txBody>
      </p:sp>
      <p:sp>
        <p:nvSpPr>
          <p:cNvPr id="3" name="object 3"/>
          <p:cNvSpPr txBox="1"/>
          <p:nvPr/>
        </p:nvSpPr>
        <p:spPr>
          <a:xfrm>
            <a:off x="3528590" y="999529"/>
            <a:ext cx="1819275" cy="876935"/>
          </a:xfrm>
          <a:prstGeom prst="rect">
            <a:avLst/>
          </a:prstGeom>
        </p:spPr>
        <p:txBody>
          <a:bodyPr vert="horz" wrap="square" lIns="0" tIns="11430" rIns="0" bIns="0" rtlCol="0">
            <a:spAutoFit/>
          </a:bodyPr>
          <a:lstStyle/>
          <a:p>
            <a:pPr marL="12700" marR="5080">
              <a:lnSpc>
                <a:spcPct val="100000"/>
              </a:lnSpc>
              <a:spcBef>
                <a:spcPts val="90"/>
              </a:spcBef>
            </a:pPr>
            <a:r>
              <a:rPr sz="800" dirty="0">
                <a:solidFill>
                  <a:srgbClr val="FFFFFF"/>
                </a:solidFill>
                <a:latin typeface="Verdana"/>
                <a:cs typeface="Verdana"/>
              </a:rPr>
              <a:t>Embracing</a:t>
            </a:r>
            <a:r>
              <a:rPr sz="800" spc="-30" dirty="0">
                <a:solidFill>
                  <a:srgbClr val="FFFFFF"/>
                </a:solidFill>
                <a:latin typeface="Verdana"/>
                <a:cs typeface="Verdana"/>
              </a:rPr>
              <a:t> </a:t>
            </a:r>
            <a:r>
              <a:rPr sz="800" spc="-10" dirty="0">
                <a:solidFill>
                  <a:srgbClr val="FFFFFF"/>
                </a:solidFill>
                <a:latin typeface="Verdana"/>
                <a:cs typeface="Verdana"/>
              </a:rPr>
              <a:t>a</a:t>
            </a:r>
            <a:r>
              <a:rPr sz="800" spc="-30" dirty="0">
                <a:solidFill>
                  <a:srgbClr val="FFFFFF"/>
                </a:solidFill>
                <a:latin typeface="Verdana"/>
                <a:cs typeface="Verdana"/>
              </a:rPr>
              <a:t> </a:t>
            </a:r>
            <a:r>
              <a:rPr sz="800" dirty="0">
                <a:solidFill>
                  <a:srgbClr val="FFFFFF"/>
                </a:solidFill>
                <a:latin typeface="Verdana"/>
                <a:cs typeface="Verdana"/>
              </a:rPr>
              <a:t>culture</a:t>
            </a:r>
            <a:r>
              <a:rPr sz="800" spc="-30" dirty="0">
                <a:solidFill>
                  <a:srgbClr val="FFFFFF"/>
                </a:solidFill>
                <a:latin typeface="Verdana"/>
                <a:cs typeface="Verdana"/>
              </a:rPr>
              <a:t> </a:t>
            </a:r>
            <a:r>
              <a:rPr sz="800" spc="-10" dirty="0">
                <a:solidFill>
                  <a:srgbClr val="FFFFFF"/>
                </a:solidFill>
                <a:latin typeface="Verdana"/>
                <a:cs typeface="Verdana"/>
              </a:rPr>
              <a:t>of</a:t>
            </a:r>
            <a:r>
              <a:rPr sz="800" spc="-30" dirty="0">
                <a:solidFill>
                  <a:srgbClr val="FFFFFF"/>
                </a:solidFill>
                <a:latin typeface="Verdana"/>
                <a:cs typeface="Verdana"/>
              </a:rPr>
              <a:t> </a:t>
            </a:r>
            <a:r>
              <a:rPr sz="800" spc="-10" dirty="0">
                <a:solidFill>
                  <a:srgbClr val="FFFFFF"/>
                </a:solidFill>
                <a:latin typeface="Verdana"/>
                <a:cs typeface="Verdana"/>
              </a:rPr>
              <a:t>continuous </a:t>
            </a:r>
            <a:r>
              <a:rPr sz="800" dirty="0">
                <a:solidFill>
                  <a:srgbClr val="FFFFFF"/>
                </a:solidFill>
                <a:latin typeface="Verdana"/>
                <a:cs typeface="Verdana"/>
              </a:rPr>
              <a:t>improvement</a:t>
            </a:r>
            <a:r>
              <a:rPr sz="800" spc="-45" dirty="0">
                <a:solidFill>
                  <a:srgbClr val="FFFFFF"/>
                </a:solidFill>
                <a:latin typeface="Verdana"/>
                <a:cs typeface="Verdana"/>
              </a:rPr>
              <a:t> </a:t>
            </a:r>
            <a:r>
              <a:rPr sz="800" spc="-25" dirty="0">
                <a:solidFill>
                  <a:srgbClr val="FFFFFF"/>
                </a:solidFill>
                <a:latin typeface="Verdana"/>
                <a:cs typeface="Verdana"/>
              </a:rPr>
              <a:t>is</a:t>
            </a:r>
            <a:r>
              <a:rPr sz="800" spc="-45" dirty="0">
                <a:solidFill>
                  <a:srgbClr val="FFFFFF"/>
                </a:solidFill>
                <a:latin typeface="Verdana"/>
                <a:cs typeface="Verdana"/>
              </a:rPr>
              <a:t> </a:t>
            </a:r>
            <a:r>
              <a:rPr sz="800" spc="-25" dirty="0">
                <a:solidFill>
                  <a:srgbClr val="FFFFFF"/>
                </a:solidFill>
                <a:latin typeface="Verdana"/>
                <a:cs typeface="Verdana"/>
              </a:rPr>
              <a:t>vital</a:t>
            </a:r>
            <a:r>
              <a:rPr sz="800" spc="-45" dirty="0">
                <a:solidFill>
                  <a:srgbClr val="FFFFFF"/>
                </a:solidFill>
                <a:latin typeface="Verdana"/>
                <a:cs typeface="Verdana"/>
              </a:rPr>
              <a:t> </a:t>
            </a:r>
            <a:r>
              <a:rPr sz="800" spc="-25" dirty="0">
                <a:solidFill>
                  <a:srgbClr val="FFFFFF"/>
                </a:solidFill>
                <a:latin typeface="Verdana"/>
                <a:cs typeface="Verdana"/>
              </a:rPr>
              <a:t>for</a:t>
            </a:r>
            <a:r>
              <a:rPr sz="800" spc="-45" dirty="0">
                <a:solidFill>
                  <a:srgbClr val="FFFFFF"/>
                </a:solidFill>
                <a:latin typeface="Verdana"/>
                <a:cs typeface="Verdana"/>
              </a:rPr>
              <a:t> </a:t>
            </a:r>
            <a:r>
              <a:rPr sz="800" spc="-10" dirty="0">
                <a:solidFill>
                  <a:srgbClr val="FFFFFF"/>
                </a:solidFill>
                <a:latin typeface="Verdana"/>
                <a:cs typeface="Verdana"/>
              </a:rPr>
              <a:t>chatbot </a:t>
            </a:r>
            <a:r>
              <a:rPr sz="800" spc="-25" dirty="0">
                <a:solidFill>
                  <a:srgbClr val="FFFFFF"/>
                </a:solidFill>
                <a:latin typeface="Verdana"/>
                <a:cs typeface="Verdana"/>
              </a:rPr>
              <a:t>success.</a:t>
            </a:r>
            <a:r>
              <a:rPr sz="800" spc="-35" dirty="0">
                <a:solidFill>
                  <a:srgbClr val="FFFFFF"/>
                </a:solidFill>
                <a:latin typeface="Verdana"/>
                <a:cs typeface="Verdana"/>
              </a:rPr>
              <a:t> </a:t>
            </a:r>
            <a:r>
              <a:rPr sz="800" dirty="0">
                <a:solidFill>
                  <a:srgbClr val="FFFFFF"/>
                </a:solidFill>
                <a:latin typeface="Verdana"/>
                <a:cs typeface="Verdana"/>
              </a:rPr>
              <a:t>By</a:t>
            </a:r>
            <a:r>
              <a:rPr sz="800" spc="-30" dirty="0">
                <a:solidFill>
                  <a:srgbClr val="FFFFFF"/>
                </a:solidFill>
                <a:latin typeface="Verdana"/>
                <a:cs typeface="Verdana"/>
              </a:rPr>
              <a:t> </a:t>
            </a:r>
            <a:r>
              <a:rPr sz="800" spc="-20" dirty="0">
                <a:solidFill>
                  <a:srgbClr val="FFFFFF"/>
                </a:solidFill>
                <a:latin typeface="Verdana"/>
                <a:cs typeface="Verdana"/>
              </a:rPr>
              <a:t>iterating,</a:t>
            </a:r>
            <a:r>
              <a:rPr sz="800" spc="-35" dirty="0">
                <a:solidFill>
                  <a:srgbClr val="FFFFFF"/>
                </a:solidFill>
                <a:latin typeface="Verdana"/>
                <a:cs typeface="Verdana"/>
              </a:rPr>
              <a:t> </a:t>
            </a:r>
            <a:r>
              <a:rPr sz="800" spc="-20" dirty="0">
                <a:solidFill>
                  <a:srgbClr val="FFFFFF"/>
                </a:solidFill>
                <a:latin typeface="Verdana"/>
                <a:cs typeface="Verdana"/>
              </a:rPr>
              <a:t>testing,</a:t>
            </a:r>
            <a:r>
              <a:rPr sz="800" spc="-30" dirty="0">
                <a:solidFill>
                  <a:srgbClr val="FFFFFF"/>
                </a:solidFill>
                <a:latin typeface="Verdana"/>
                <a:cs typeface="Verdana"/>
              </a:rPr>
              <a:t> </a:t>
            </a:r>
            <a:r>
              <a:rPr sz="800" spc="-25" dirty="0">
                <a:solidFill>
                  <a:srgbClr val="FFFFFF"/>
                </a:solidFill>
                <a:latin typeface="Verdana"/>
                <a:cs typeface="Verdana"/>
              </a:rPr>
              <a:t>and </a:t>
            </a:r>
            <a:r>
              <a:rPr sz="800" dirty="0">
                <a:solidFill>
                  <a:srgbClr val="FFFFFF"/>
                </a:solidFill>
                <a:latin typeface="Verdana"/>
                <a:cs typeface="Verdana"/>
              </a:rPr>
              <a:t>refining</a:t>
            </a:r>
            <a:r>
              <a:rPr sz="800" spc="-20" dirty="0">
                <a:solidFill>
                  <a:srgbClr val="FFFFFF"/>
                </a:solidFill>
                <a:latin typeface="Verdana"/>
                <a:cs typeface="Verdana"/>
              </a:rPr>
              <a:t> </a:t>
            </a:r>
            <a:r>
              <a:rPr sz="800" dirty="0">
                <a:solidFill>
                  <a:srgbClr val="FFFFFF"/>
                </a:solidFill>
                <a:latin typeface="Verdana"/>
                <a:cs typeface="Verdana"/>
              </a:rPr>
              <a:t>the</a:t>
            </a:r>
            <a:r>
              <a:rPr sz="800" spc="-20" dirty="0">
                <a:solidFill>
                  <a:srgbClr val="FFFFFF"/>
                </a:solidFill>
                <a:latin typeface="Verdana"/>
                <a:cs typeface="Verdana"/>
              </a:rPr>
              <a:t> </a:t>
            </a:r>
            <a:r>
              <a:rPr sz="800" dirty="0">
                <a:solidFill>
                  <a:srgbClr val="FFFFFF"/>
                </a:solidFill>
                <a:latin typeface="Verdana"/>
                <a:cs typeface="Verdana"/>
              </a:rPr>
              <a:t>chatbot</a:t>
            </a:r>
            <a:r>
              <a:rPr sz="800" spc="-20" dirty="0">
                <a:solidFill>
                  <a:srgbClr val="FFFFFF"/>
                </a:solidFill>
                <a:latin typeface="Verdana"/>
                <a:cs typeface="Verdana"/>
              </a:rPr>
              <a:t> experience, </a:t>
            </a:r>
            <a:r>
              <a:rPr sz="800" spc="-25" dirty="0">
                <a:solidFill>
                  <a:srgbClr val="FFFFFF"/>
                </a:solidFill>
                <a:latin typeface="Verdana"/>
                <a:cs typeface="Verdana"/>
              </a:rPr>
              <a:t>we </a:t>
            </a:r>
            <a:r>
              <a:rPr sz="800" dirty="0">
                <a:solidFill>
                  <a:srgbClr val="FFFFFF"/>
                </a:solidFill>
                <a:latin typeface="Verdana"/>
                <a:cs typeface="Verdana"/>
              </a:rPr>
              <a:t>can</a:t>
            </a:r>
            <a:r>
              <a:rPr sz="800" spc="-45" dirty="0">
                <a:solidFill>
                  <a:srgbClr val="FFFFFF"/>
                </a:solidFill>
                <a:latin typeface="Verdana"/>
                <a:cs typeface="Verdana"/>
              </a:rPr>
              <a:t> </a:t>
            </a:r>
            <a:r>
              <a:rPr sz="800" spc="-10" dirty="0">
                <a:solidFill>
                  <a:srgbClr val="FFFFFF"/>
                </a:solidFill>
                <a:latin typeface="Verdana"/>
                <a:cs typeface="Verdana"/>
              </a:rPr>
              <a:t>ensure</a:t>
            </a:r>
            <a:r>
              <a:rPr sz="800" spc="-45" dirty="0">
                <a:solidFill>
                  <a:srgbClr val="FFFFFF"/>
                </a:solidFill>
                <a:latin typeface="Verdana"/>
                <a:cs typeface="Verdana"/>
              </a:rPr>
              <a:t> </a:t>
            </a:r>
            <a:r>
              <a:rPr sz="800" dirty="0">
                <a:solidFill>
                  <a:srgbClr val="FFFFFF"/>
                </a:solidFill>
                <a:latin typeface="Verdana"/>
                <a:cs typeface="Verdana"/>
              </a:rPr>
              <a:t>that</a:t>
            </a:r>
            <a:r>
              <a:rPr sz="800" spc="-45" dirty="0">
                <a:solidFill>
                  <a:srgbClr val="FFFFFF"/>
                </a:solidFill>
                <a:latin typeface="Verdana"/>
                <a:cs typeface="Verdana"/>
              </a:rPr>
              <a:t> </a:t>
            </a:r>
            <a:r>
              <a:rPr sz="800" spc="-10" dirty="0">
                <a:solidFill>
                  <a:srgbClr val="FFFFFF"/>
                </a:solidFill>
                <a:latin typeface="Verdana"/>
                <a:cs typeface="Verdana"/>
              </a:rPr>
              <a:t>it</a:t>
            </a:r>
            <a:r>
              <a:rPr sz="800" spc="-40" dirty="0">
                <a:solidFill>
                  <a:srgbClr val="FFFFFF"/>
                </a:solidFill>
                <a:latin typeface="Verdana"/>
                <a:cs typeface="Verdana"/>
              </a:rPr>
              <a:t> </a:t>
            </a:r>
            <a:r>
              <a:rPr sz="800" spc="-35" dirty="0">
                <a:solidFill>
                  <a:srgbClr val="FFFFFF"/>
                </a:solidFill>
                <a:latin typeface="Verdana"/>
                <a:cs typeface="Verdana"/>
              </a:rPr>
              <a:t>evolves</a:t>
            </a:r>
            <a:r>
              <a:rPr sz="800" spc="-45" dirty="0">
                <a:solidFill>
                  <a:srgbClr val="FFFFFF"/>
                </a:solidFill>
                <a:latin typeface="Verdana"/>
                <a:cs typeface="Verdana"/>
              </a:rPr>
              <a:t> </a:t>
            </a:r>
            <a:r>
              <a:rPr sz="800" spc="-10" dirty="0">
                <a:solidFill>
                  <a:srgbClr val="FFFFFF"/>
                </a:solidFill>
                <a:latin typeface="Verdana"/>
                <a:cs typeface="Verdana"/>
              </a:rPr>
              <a:t>to</a:t>
            </a:r>
            <a:r>
              <a:rPr sz="800" spc="-45" dirty="0">
                <a:solidFill>
                  <a:srgbClr val="FFFFFF"/>
                </a:solidFill>
                <a:latin typeface="Verdana"/>
                <a:cs typeface="Verdana"/>
              </a:rPr>
              <a:t> </a:t>
            </a:r>
            <a:r>
              <a:rPr sz="800" spc="-20" dirty="0">
                <a:solidFill>
                  <a:srgbClr val="FFFFFF"/>
                </a:solidFill>
                <a:latin typeface="Verdana"/>
                <a:cs typeface="Verdana"/>
              </a:rPr>
              <a:t>meet </a:t>
            </a:r>
            <a:r>
              <a:rPr sz="800" dirty="0">
                <a:solidFill>
                  <a:srgbClr val="FFFFFF"/>
                </a:solidFill>
                <a:latin typeface="Verdana"/>
                <a:cs typeface="Verdana"/>
              </a:rPr>
              <a:t>changing</a:t>
            </a:r>
            <a:r>
              <a:rPr sz="800" spc="-25" dirty="0">
                <a:solidFill>
                  <a:srgbClr val="FFFFFF"/>
                </a:solidFill>
                <a:latin typeface="Verdana"/>
                <a:cs typeface="Verdana"/>
              </a:rPr>
              <a:t> </a:t>
            </a:r>
            <a:r>
              <a:rPr sz="800" spc="-10" dirty="0">
                <a:solidFill>
                  <a:srgbClr val="FFFFFF"/>
                </a:solidFill>
                <a:latin typeface="Verdana"/>
                <a:cs typeface="Verdana"/>
              </a:rPr>
              <a:t>user</a:t>
            </a:r>
            <a:r>
              <a:rPr sz="800" spc="-20" dirty="0">
                <a:solidFill>
                  <a:srgbClr val="FFFFFF"/>
                </a:solidFill>
                <a:latin typeface="Verdana"/>
                <a:cs typeface="Verdana"/>
              </a:rPr>
              <a:t> </a:t>
            </a:r>
            <a:r>
              <a:rPr sz="800" dirty="0">
                <a:solidFill>
                  <a:srgbClr val="FFFFFF"/>
                </a:solidFill>
                <a:latin typeface="Verdana"/>
                <a:cs typeface="Verdana"/>
              </a:rPr>
              <a:t>needs</a:t>
            </a:r>
            <a:r>
              <a:rPr sz="800" spc="-25" dirty="0">
                <a:solidFill>
                  <a:srgbClr val="FFFFFF"/>
                </a:solidFill>
                <a:latin typeface="Verdana"/>
                <a:cs typeface="Verdana"/>
              </a:rPr>
              <a:t> and </a:t>
            </a:r>
            <a:r>
              <a:rPr sz="800" dirty="0">
                <a:solidFill>
                  <a:srgbClr val="FFFFFF"/>
                </a:solidFill>
                <a:latin typeface="Verdana"/>
                <a:cs typeface="Verdana"/>
              </a:rPr>
              <a:t>technological </a:t>
            </a:r>
            <a:r>
              <a:rPr sz="800" spc="-10" dirty="0">
                <a:solidFill>
                  <a:srgbClr val="FFFFFF"/>
                </a:solidFill>
                <a:latin typeface="Verdana"/>
                <a:cs typeface="Verdana"/>
              </a:rPr>
              <a:t>advancements.</a:t>
            </a:r>
            <a:endParaRPr sz="800">
              <a:latin typeface="Verdana"/>
              <a:cs typeface="Verdana"/>
            </a:endParaRPr>
          </a:p>
        </p:txBody>
      </p:sp>
      <p:pic>
        <p:nvPicPr>
          <p:cNvPr id="4" name="object 4"/>
          <p:cNvPicPr/>
          <p:nvPr/>
        </p:nvPicPr>
        <p:blipFill>
          <a:blip r:embed="rId2" cstate="print"/>
          <a:stretch>
            <a:fillRect/>
          </a:stretch>
        </p:blipFill>
        <p:spPr>
          <a:xfrm>
            <a:off x="1515" y="8"/>
            <a:ext cx="2922611" cy="32879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12" y="8"/>
            <a:ext cx="2596871" cy="3287935"/>
          </a:xfrm>
          <a:prstGeom prst="rect">
            <a:avLst/>
          </a:prstGeom>
        </p:spPr>
      </p:pic>
      <p:sp>
        <p:nvSpPr>
          <p:cNvPr id="3" name="object 3"/>
          <p:cNvSpPr txBox="1">
            <a:spLocks noGrp="1"/>
          </p:cNvSpPr>
          <p:nvPr>
            <p:ph type="title"/>
          </p:nvPr>
        </p:nvSpPr>
        <p:spPr>
          <a:xfrm>
            <a:off x="2839117" y="359926"/>
            <a:ext cx="2764790" cy="560705"/>
          </a:xfrm>
          <a:prstGeom prst="rect">
            <a:avLst/>
          </a:prstGeom>
          <a:solidFill>
            <a:srgbClr val="000000"/>
          </a:solidFill>
        </p:spPr>
        <p:txBody>
          <a:bodyPr vert="horz" wrap="square" lIns="0" tIns="78740" rIns="0" bIns="0" rtlCol="0">
            <a:spAutoFit/>
          </a:bodyPr>
          <a:lstStyle/>
          <a:p>
            <a:pPr marL="88265">
              <a:lnSpc>
                <a:spcPct val="100000"/>
              </a:lnSpc>
              <a:spcBef>
                <a:spcPts val="620"/>
              </a:spcBef>
            </a:pPr>
            <a:r>
              <a:rPr sz="1400" dirty="0"/>
              <a:t>Empowering</a:t>
            </a:r>
            <a:r>
              <a:rPr sz="1400" spc="100" dirty="0"/>
              <a:t> </a:t>
            </a:r>
            <a:r>
              <a:rPr sz="1400" dirty="0"/>
              <a:t>Conversational</a:t>
            </a:r>
            <a:r>
              <a:rPr sz="1400" spc="30" dirty="0"/>
              <a:t> </a:t>
            </a:r>
            <a:r>
              <a:rPr sz="1400" spc="-25" dirty="0"/>
              <a:t>AI</a:t>
            </a:r>
            <a:endParaRPr sz="1400"/>
          </a:p>
        </p:txBody>
      </p:sp>
      <p:sp>
        <p:nvSpPr>
          <p:cNvPr id="4" name="object 4"/>
          <p:cNvSpPr txBox="1">
            <a:spLocks noGrp="1"/>
          </p:cNvSpPr>
          <p:nvPr>
            <p:ph type="body" idx="1"/>
          </p:nvPr>
        </p:nvSpPr>
        <p:spPr>
          <a:prstGeom prst="rect">
            <a:avLst/>
          </a:prstGeom>
        </p:spPr>
        <p:txBody>
          <a:bodyPr vert="horz" wrap="square" lIns="0" tIns="12065" rIns="0" bIns="0" rtlCol="0">
            <a:spAutoFit/>
          </a:bodyPr>
          <a:lstStyle/>
          <a:p>
            <a:pPr marL="12065" marR="5080" algn="ctr">
              <a:lnSpc>
                <a:spcPct val="115399"/>
              </a:lnSpc>
              <a:spcBef>
                <a:spcPts val="95"/>
              </a:spcBef>
            </a:pPr>
            <a:r>
              <a:rPr dirty="0"/>
              <a:t>Empowering</a:t>
            </a:r>
            <a:r>
              <a:rPr spc="-15" dirty="0"/>
              <a:t> </a:t>
            </a:r>
            <a:r>
              <a:rPr spc="-10" dirty="0"/>
              <a:t>conversational</a:t>
            </a:r>
            <a:r>
              <a:rPr spc="-15" dirty="0"/>
              <a:t> </a:t>
            </a:r>
            <a:r>
              <a:rPr spc="-50" dirty="0"/>
              <a:t>AI</a:t>
            </a:r>
            <a:r>
              <a:rPr spc="-10" dirty="0"/>
              <a:t> through </a:t>
            </a:r>
            <a:r>
              <a:rPr spc="-20" dirty="0"/>
              <a:t>innovative</a:t>
            </a:r>
            <a:r>
              <a:rPr spc="-15" dirty="0"/>
              <a:t> </a:t>
            </a:r>
            <a:r>
              <a:rPr dirty="0"/>
              <a:t>technologies</a:t>
            </a:r>
            <a:r>
              <a:rPr spc="-10" dirty="0"/>
              <a:t> </a:t>
            </a:r>
            <a:r>
              <a:rPr dirty="0"/>
              <a:t>and</a:t>
            </a:r>
            <a:r>
              <a:rPr spc="-15" dirty="0"/>
              <a:t> </a:t>
            </a:r>
            <a:r>
              <a:rPr spc="-10" dirty="0"/>
              <a:t>integrations </a:t>
            </a:r>
            <a:r>
              <a:rPr spc="-25" dirty="0"/>
              <a:t>can </a:t>
            </a:r>
            <a:r>
              <a:rPr spc="-20" dirty="0"/>
              <a:t>revolutionize</a:t>
            </a:r>
            <a:r>
              <a:rPr spc="-35" dirty="0"/>
              <a:t> </a:t>
            </a:r>
            <a:r>
              <a:rPr spc="-20" dirty="0"/>
              <a:t>user</a:t>
            </a:r>
            <a:r>
              <a:rPr spc="-30" dirty="0"/>
              <a:t> </a:t>
            </a:r>
            <a:r>
              <a:rPr spc="-20" dirty="0"/>
              <a:t>interactions.</a:t>
            </a:r>
            <a:r>
              <a:rPr spc="-30" dirty="0"/>
              <a:t> </a:t>
            </a:r>
            <a:r>
              <a:rPr dirty="0"/>
              <a:t>By</a:t>
            </a:r>
            <a:r>
              <a:rPr spc="-30" dirty="0"/>
              <a:t> </a:t>
            </a:r>
            <a:r>
              <a:rPr spc="-10" dirty="0"/>
              <a:t>staying</a:t>
            </a:r>
            <a:r>
              <a:rPr spc="-35" dirty="0"/>
              <a:t> </a:t>
            </a:r>
            <a:r>
              <a:rPr dirty="0"/>
              <a:t>at</a:t>
            </a:r>
            <a:r>
              <a:rPr spc="-30" dirty="0"/>
              <a:t> </a:t>
            </a:r>
            <a:r>
              <a:rPr spc="-25" dirty="0"/>
              <a:t>the </a:t>
            </a:r>
            <a:r>
              <a:rPr spc="-10" dirty="0"/>
              <a:t>forefront</a:t>
            </a:r>
            <a:r>
              <a:rPr spc="-45" dirty="0"/>
              <a:t> </a:t>
            </a:r>
            <a:r>
              <a:rPr spc="-10" dirty="0"/>
              <a:t>of</a:t>
            </a:r>
            <a:r>
              <a:rPr spc="-45" dirty="0"/>
              <a:t> </a:t>
            </a:r>
            <a:r>
              <a:rPr spc="-50" dirty="0"/>
              <a:t>AI</a:t>
            </a:r>
            <a:r>
              <a:rPr spc="-45" dirty="0"/>
              <a:t> </a:t>
            </a:r>
            <a:r>
              <a:rPr spc="-10" dirty="0"/>
              <a:t>advancements,</a:t>
            </a:r>
            <a:r>
              <a:rPr spc="-45" dirty="0"/>
              <a:t> </a:t>
            </a:r>
            <a:r>
              <a:rPr dirty="0"/>
              <a:t>we</a:t>
            </a:r>
            <a:r>
              <a:rPr spc="-45" dirty="0"/>
              <a:t> </a:t>
            </a:r>
            <a:r>
              <a:rPr dirty="0"/>
              <a:t>can</a:t>
            </a:r>
            <a:r>
              <a:rPr spc="-45" dirty="0"/>
              <a:t> </a:t>
            </a:r>
            <a:r>
              <a:rPr spc="-10" dirty="0"/>
              <a:t>deliver </a:t>
            </a:r>
            <a:r>
              <a:rPr dirty="0"/>
              <a:t>cutting-edge</a:t>
            </a:r>
            <a:r>
              <a:rPr spc="-25" dirty="0"/>
              <a:t> </a:t>
            </a:r>
            <a:r>
              <a:rPr dirty="0"/>
              <a:t>chatbot</a:t>
            </a:r>
            <a:r>
              <a:rPr spc="-20" dirty="0"/>
              <a:t> </a:t>
            </a:r>
            <a:r>
              <a:rPr spc="-10" dirty="0"/>
              <a:t>experiences</a:t>
            </a:r>
            <a:r>
              <a:rPr spc="-25" dirty="0"/>
              <a:t> </a:t>
            </a:r>
            <a:r>
              <a:rPr dirty="0"/>
              <a:t>that</a:t>
            </a:r>
            <a:r>
              <a:rPr spc="-20" dirty="0"/>
              <a:t> </a:t>
            </a:r>
            <a:r>
              <a:rPr spc="-10" dirty="0"/>
              <a:t>redefine user</a:t>
            </a:r>
            <a:r>
              <a:rPr spc="-70" dirty="0"/>
              <a:t> </a:t>
            </a:r>
            <a:r>
              <a:rPr spc="-10" dirty="0"/>
              <a:t>engagement.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854700" cy="3295650"/>
          </a:xfrm>
          <a:prstGeom prst="rect">
            <a:avLst/>
          </a:prstGeom>
        </p:spPr>
      </p:pic>
    </p:spTree>
    <p:extLst>
      <p:ext uri="{BB962C8B-B14F-4D97-AF65-F5344CB8AC3E}">
        <p14:creationId xmlns:p14="http://schemas.microsoft.com/office/powerpoint/2010/main" val="2272112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12" y="0"/>
            <a:ext cx="5845810" cy="3288029"/>
            <a:chOff x="1512" y="0"/>
            <a:chExt cx="5845810" cy="3288029"/>
          </a:xfrm>
        </p:grpSpPr>
        <p:sp>
          <p:nvSpPr>
            <p:cNvPr id="3" name="object 3"/>
            <p:cNvSpPr/>
            <p:nvPr/>
          </p:nvSpPr>
          <p:spPr>
            <a:xfrm>
              <a:off x="1511" y="0"/>
              <a:ext cx="5845810" cy="3288029"/>
            </a:xfrm>
            <a:custGeom>
              <a:avLst/>
              <a:gdLst/>
              <a:ahLst/>
              <a:cxnLst/>
              <a:rect l="l" t="t" r="r" b="b"/>
              <a:pathLst>
                <a:path w="5845810" h="3288029">
                  <a:moveTo>
                    <a:pt x="5845213" y="0"/>
                  </a:moveTo>
                  <a:lnTo>
                    <a:pt x="5453367" y="0"/>
                  </a:lnTo>
                  <a:lnTo>
                    <a:pt x="5453367" y="391160"/>
                  </a:lnTo>
                  <a:lnTo>
                    <a:pt x="5453367" y="2895600"/>
                  </a:lnTo>
                  <a:lnTo>
                    <a:pt x="3865029" y="2895600"/>
                  </a:lnTo>
                  <a:lnTo>
                    <a:pt x="3865029" y="2894457"/>
                  </a:lnTo>
                  <a:lnTo>
                    <a:pt x="1980222" y="2894457"/>
                  </a:lnTo>
                  <a:lnTo>
                    <a:pt x="1980222" y="2895600"/>
                  </a:lnTo>
                  <a:lnTo>
                    <a:pt x="391858" y="2895600"/>
                  </a:lnTo>
                  <a:lnTo>
                    <a:pt x="391858" y="391160"/>
                  </a:lnTo>
                  <a:lnTo>
                    <a:pt x="1980222" y="391160"/>
                  </a:lnTo>
                  <a:lnTo>
                    <a:pt x="1980222" y="392595"/>
                  </a:lnTo>
                  <a:lnTo>
                    <a:pt x="3865029" y="392595"/>
                  </a:lnTo>
                  <a:lnTo>
                    <a:pt x="3865029" y="391160"/>
                  </a:lnTo>
                  <a:lnTo>
                    <a:pt x="5453367" y="391160"/>
                  </a:lnTo>
                  <a:lnTo>
                    <a:pt x="5453367" y="0"/>
                  </a:lnTo>
                  <a:lnTo>
                    <a:pt x="3776573" y="0"/>
                  </a:lnTo>
                  <a:lnTo>
                    <a:pt x="2068664" y="25"/>
                  </a:lnTo>
                  <a:lnTo>
                    <a:pt x="0" y="0"/>
                  </a:lnTo>
                  <a:lnTo>
                    <a:pt x="0" y="391160"/>
                  </a:lnTo>
                  <a:lnTo>
                    <a:pt x="0" y="2895600"/>
                  </a:lnTo>
                  <a:lnTo>
                    <a:pt x="0" y="3288030"/>
                  </a:lnTo>
                  <a:lnTo>
                    <a:pt x="2068664" y="3288030"/>
                  </a:lnTo>
                  <a:lnTo>
                    <a:pt x="2068664" y="3287014"/>
                  </a:lnTo>
                  <a:lnTo>
                    <a:pt x="3776573" y="3287014"/>
                  </a:lnTo>
                  <a:lnTo>
                    <a:pt x="3776573" y="3288030"/>
                  </a:lnTo>
                  <a:lnTo>
                    <a:pt x="5845213" y="3288030"/>
                  </a:lnTo>
                  <a:lnTo>
                    <a:pt x="5845213" y="2895600"/>
                  </a:lnTo>
                  <a:lnTo>
                    <a:pt x="5845213" y="391160"/>
                  </a:lnTo>
                  <a:lnTo>
                    <a:pt x="5845213" y="0"/>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3425342" y="1524975"/>
              <a:ext cx="685342" cy="75724"/>
            </a:xfrm>
            <a:prstGeom prst="rect">
              <a:avLst/>
            </a:prstGeom>
          </p:spPr>
        </p:pic>
        <p:sp>
          <p:nvSpPr>
            <p:cNvPr id="5" name="object 5"/>
            <p:cNvSpPr/>
            <p:nvPr/>
          </p:nvSpPr>
          <p:spPr>
            <a:xfrm>
              <a:off x="2739734" y="1754873"/>
              <a:ext cx="281940" cy="99060"/>
            </a:xfrm>
            <a:custGeom>
              <a:avLst/>
              <a:gdLst/>
              <a:ahLst/>
              <a:cxnLst/>
              <a:rect l="l" t="t" r="r" b="b"/>
              <a:pathLst>
                <a:path w="281939" h="99060">
                  <a:moveTo>
                    <a:pt x="11597" y="14276"/>
                  </a:moveTo>
                  <a:lnTo>
                    <a:pt x="0" y="14276"/>
                  </a:lnTo>
                  <a:lnTo>
                    <a:pt x="0" y="56625"/>
                  </a:lnTo>
                  <a:lnTo>
                    <a:pt x="21323" y="89367"/>
                  </a:lnTo>
                  <a:lnTo>
                    <a:pt x="40721" y="89367"/>
                  </a:lnTo>
                  <a:lnTo>
                    <a:pt x="48304" y="86560"/>
                  </a:lnTo>
                  <a:lnTo>
                    <a:pt x="53757" y="80915"/>
                  </a:lnTo>
                  <a:lnTo>
                    <a:pt x="55557" y="78559"/>
                  </a:lnTo>
                  <a:lnTo>
                    <a:pt x="24670" y="78559"/>
                  </a:lnTo>
                  <a:lnTo>
                    <a:pt x="19836" y="76773"/>
                  </a:lnTo>
                  <a:lnTo>
                    <a:pt x="13240" y="69591"/>
                  </a:lnTo>
                  <a:lnTo>
                    <a:pt x="11631" y="64086"/>
                  </a:lnTo>
                  <a:lnTo>
                    <a:pt x="11597" y="14276"/>
                  </a:lnTo>
                  <a:close/>
                </a:path>
                <a:path w="281939" h="99060">
                  <a:moveTo>
                    <a:pt x="61950" y="14276"/>
                  </a:moveTo>
                  <a:lnTo>
                    <a:pt x="50554" y="14276"/>
                  </a:lnTo>
                  <a:lnTo>
                    <a:pt x="50520" y="64086"/>
                  </a:lnTo>
                  <a:lnTo>
                    <a:pt x="48899" y="69591"/>
                  </a:lnTo>
                  <a:lnTo>
                    <a:pt x="42303" y="76773"/>
                  </a:lnTo>
                  <a:lnTo>
                    <a:pt x="37444" y="78559"/>
                  </a:lnTo>
                  <a:lnTo>
                    <a:pt x="55557" y="78559"/>
                  </a:lnTo>
                  <a:lnTo>
                    <a:pt x="57343" y="76222"/>
                  </a:lnTo>
                  <a:lnTo>
                    <a:pt x="59903" y="70609"/>
                  </a:lnTo>
                  <a:lnTo>
                    <a:pt x="61436" y="64086"/>
                  </a:lnTo>
                  <a:lnTo>
                    <a:pt x="61950" y="56625"/>
                  </a:lnTo>
                  <a:lnTo>
                    <a:pt x="61950" y="14276"/>
                  </a:lnTo>
                  <a:close/>
                </a:path>
                <a:path w="281939" h="99060">
                  <a:moveTo>
                    <a:pt x="91787" y="14276"/>
                  </a:moveTo>
                  <a:lnTo>
                    <a:pt x="80177" y="14276"/>
                  </a:lnTo>
                  <a:lnTo>
                    <a:pt x="80177" y="88760"/>
                  </a:lnTo>
                  <a:lnTo>
                    <a:pt x="91787" y="88760"/>
                  </a:lnTo>
                  <a:lnTo>
                    <a:pt x="91787" y="14276"/>
                  </a:lnTo>
                  <a:close/>
                </a:path>
                <a:path w="281939" h="99060">
                  <a:moveTo>
                    <a:pt x="141280" y="0"/>
                  </a:moveTo>
                  <a:lnTo>
                    <a:pt x="130314" y="0"/>
                  </a:lnTo>
                  <a:lnTo>
                    <a:pt x="95704" y="98822"/>
                  </a:lnTo>
                  <a:lnTo>
                    <a:pt x="106646" y="98822"/>
                  </a:lnTo>
                  <a:lnTo>
                    <a:pt x="141280" y="0"/>
                  </a:lnTo>
                  <a:close/>
                </a:path>
                <a:path w="281939" h="99060">
                  <a:moveTo>
                    <a:pt x="155164" y="14276"/>
                  </a:moveTo>
                  <a:lnTo>
                    <a:pt x="143566" y="14276"/>
                  </a:lnTo>
                  <a:lnTo>
                    <a:pt x="143566" y="56625"/>
                  </a:lnTo>
                  <a:lnTo>
                    <a:pt x="164890" y="89367"/>
                  </a:lnTo>
                  <a:lnTo>
                    <a:pt x="184285" y="89367"/>
                  </a:lnTo>
                  <a:lnTo>
                    <a:pt x="191871" y="86560"/>
                  </a:lnTo>
                  <a:lnTo>
                    <a:pt x="197324" y="80915"/>
                  </a:lnTo>
                  <a:lnTo>
                    <a:pt x="199124" y="78559"/>
                  </a:lnTo>
                  <a:lnTo>
                    <a:pt x="168225" y="78559"/>
                  </a:lnTo>
                  <a:lnTo>
                    <a:pt x="163403" y="76773"/>
                  </a:lnTo>
                  <a:lnTo>
                    <a:pt x="156807" y="69591"/>
                  </a:lnTo>
                  <a:lnTo>
                    <a:pt x="155198" y="64086"/>
                  </a:lnTo>
                  <a:lnTo>
                    <a:pt x="155164" y="14276"/>
                  </a:lnTo>
                  <a:close/>
                </a:path>
                <a:path w="281939" h="99060">
                  <a:moveTo>
                    <a:pt x="205514" y="14276"/>
                  </a:moveTo>
                  <a:lnTo>
                    <a:pt x="194108" y="14276"/>
                  </a:lnTo>
                  <a:lnTo>
                    <a:pt x="194075" y="64086"/>
                  </a:lnTo>
                  <a:lnTo>
                    <a:pt x="192465" y="69591"/>
                  </a:lnTo>
                  <a:lnTo>
                    <a:pt x="185870" y="76773"/>
                  </a:lnTo>
                  <a:lnTo>
                    <a:pt x="181011" y="78559"/>
                  </a:lnTo>
                  <a:lnTo>
                    <a:pt x="199124" y="78559"/>
                  </a:lnTo>
                  <a:lnTo>
                    <a:pt x="200909" y="76222"/>
                  </a:lnTo>
                  <a:lnTo>
                    <a:pt x="203468" y="70609"/>
                  </a:lnTo>
                  <a:lnTo>
                    <a:pt x="205001" y="64086"/>
                  </a:lnTo>
                  <a:lnTo>
                    <a:pt x="205514" y="56625"/>
                  </a:lnTo>
                  <a:lnTo>
                    <a:pt x="205514" y="14276"/>
                  </a:lnTo>
                  <a:close/>
                </a:path>
                <a:path w="281939" h="99060">
                  <a:moveTo>
                    <a:pt x="226374" y="14276"/>
                  </a:moveTo>
                  <a:lnTo>
                    <a:pt x="212658" y="14276"/>
                  </a:lnTo>
                  <a:lnTo>
                    <a:pt x="239197" y="50493"/>
                  </a:lnTo>
                  <a:lnTo>
                    <a:pt x="210967" y="88760"/>
                  </a:lnTo>
                  <a:lnTo>
                    <a:pt x="224671" y="88760"/>
                  </a:lnTo>
                  <a:lnTo>
                    <a:pt x="246211" y="59256"/>
                  </a:lnTo>
                  <a:lnTo>
                    <a:pt x="259946" y="59256"/>
                  </a:lnTo>
                  <a:lnTo>
                    <a:pt x="253352" y="50304"/>
                  </a:lnTo>
                  <a:lnTo>
                    <a:pt x="259764" y="41565"/>
                  </a:lnTo>
                  <a:lnTo>
                    <a:pt x="246531" y="41565"/>
                  </a:lnTo>
                  <a:lnTo>
                    <a:pt x="226374" y="14276"/>
                  </a:lnTo>
                  <a:close/>
                </a:path>
                <a:path w="281939" h="99060">
                  <a:moveTo>
                    <a:pt x="259946" y="59256"/>
                  </a:moveTo>
                  <a:lnTo>
                    <a:pt x="246211" y="59256"/>
                  </a:lnTo>
                  <a:lnTo>
                    <a:pt x="267867" y="88760"/>
                  </a:lnTo>
                  <a:lnTo>
                    <a:pt x="281677" y="88760"/>
                  </a:lnTo>
                  <a:lnTo>
                    <a:pt x="259946" y="59256"/>
                  </a:lnTo>
                  <a:close/>
                </a:path>
                <a:path w="281939" h="99060">
                  <a:moveTo>
                    <a:pt x="279785" y="14276"/>
                  </a:moveTo>
                  <a:lnTo>
                    <a:pt x="266568" y="14276"/>
                  </a:lnTo>
                  <a:lnTo>
                    <a:pt x="246531" y="41565"/>
                  </a:lnTo>
                  <a:lnTo>
                    <a:pt x="259764" y="41565"/>
                  </a:lnTo>
                  <a:lnTo>
                    <a:pt x="279785" y="14276"/>
                  </a:lnTo>
                  <a:close/>
                </a:path>
              </a:pathLst>
            </a:custGeom>
            <a:solidFill>
              <a:srgbClr val="000000"/>
            </a:solidFill>
          </p:spPr>
          <p:txBody>
            <a:bodyPr wrap="square" lIns="0" tIns="0" rIns="0" bIns="0" rtlCol="0"/>
            <a:lstStyle/>
            <a:p>
              <a:endParaRPr/>
            </a:p>
          </p:txBody>
        </p:sp>
      </p:grpSp>
      <p:sp>
        <p:nvSpPr>
          <p:cNvPr id="6" name="object 6"/>
          <p:cNvSpPr txBox="1">
            <a:spLocks noGrp="1"/>
          </p:cNvSpPr>
          <p:nvPr>
            <p:ph type="title"/>
          </p:nvPr>
        </p:nvSpPr>
        <p:spPr>
          <a:xfrm>
            <a:off x="1508371" y="766646"/>
            <a:ext cx="2828925" cy="514984"/>
          </a:xfrm>
          <a:prstGeom prst="rect">
            <a:avLst/>
          </a:prstGeom>
        </p:spPr>
        <p:txBody>
          <a:bodyPr vert="horz" wrap="square" lIns="0" tIns="13335" rIns="0" bIns="0" rtlCol="0">
            <a:spAutoFit/>
          </a:bodyPr>
          <a:lstStyle/>
          <a:p>
            <a:pPr marL="12700">
              <a:lnSpc>
                <a:spcPct val="100000"/>
              </a:lnSpc>
              <a:spcBef>
                <a:spcPts val="105"/>
              </a:spcBef>
            </a:pPr>
            <a:r>
              <a:rPr sz="3200" spc="-50" dirty="0">
                <a:solidFill>
                  <a:srgbClr val="000000"/>
                </a:solidFill>
              </a:rPr>
              <a:t>Key</a:t>
            </a:r>
            <a:r>
              <a:rPr sz="3200" spc="-120" dirty="0">
                <a:solidFill>
                  <a:srgbClr val="000000"/>
                </a:solidFill>
              </a:rPr>
              <a:t> </a:t>
            </a:r>
            <a:r>
              <a:rPr sz="3200" spc="-55" dirty="0">
                <a:solidFill>
                  <a:srgbClr val="000000"/>
                </a:solidFill>
              </a:rPr>
              <a:t>Takeaways</a:t>
            </a:r>
            <a:endParaRPr sz="3200"/>
          </a:p>
        </p:txBody>
      </p:sp>
      <p:sp>
        <p:nvSpPr>
          <p:cNvPr id="7" name="object 7"/>
          <p:cNvSpPr txBox="1"/>
          <p:nvPr/>
        </p:nvSpPr>
        <p:spPr>
          <a:xfrm>
            <a:off x="1477931" y="1486913"/>
            <a:ext cx="1922780" cy="146050"/>
          </a:xfrm>
          <a:prstGeom prst="rect">
            <a:avLst/>
          </a:prstGeom>
        </p:spPr>
        <p:txBody>
          <a:bodyPr vert="horz" wrap="square" lIns="0" tIns="11430" rIns="0" bIns="0" rtlCol="0">
            <a:spAutoFit/>
          </a:bodyPr>
          <a:lstStyle/>
          <a:p>
            <a:pPr marL="12700">
              <a:lnSpc>
                <a:spcPct val="100000"/>
              </a:lnSpc>
              <a:spcBef>
                <a:spcPts val="90"/>
              </a:spcBef>
            </a:pPr>
            <a:r>
              <a:rPr sz="800" spc="-50" dirty="0">
                <a:latin typeface="Verdana"/>
                <a:cs typeface="Verdana"/>
              </a:rPr>
              <a:t>In</a:t>
            </a:r>
            <a:r>
              <a:rPr sz="800" spc="-35" dirty="0">
                <a:latin typeface="Verdana"/>
                <a:cs typeface="Verdana"/>
              </a:rPr>
              <a:t> </a:t>
            </a:r>
            <a:r>
              <a:rPr sz="800" spc="-10" dirty="0">
                <a:latin typeface="Verdana"/>
                <a:cs typeface="Verdana"/>
              </a:rPr>
              <a:t>conclusion,</a:t>
            </a:r>
            <a:r>
              <a:rPr sz="800" spc="-30" dirty="0">
                <a:latin typeface="Verdana"/>
                <a:cs typeface="Verdana"/>
              </a:rPr>
              <a:t> </a:t>
            </a:r>
            <a:r>
              <a:rPr sz="800" dirty="0">
                <a:latin typeface="Verdana"/>
                <a:cs typeface="Verdana"/>
              </a:rPr>
              <a:t>building</a:t>
            </a:r>
            <a:r>
              <a:rPr sz="800" spc="-30" dirty="0">
                <a:latin typeface="Verdana"/>
                <a:cs typeface="Verdana"/>
              </a:rPr>
              <a:t> </a:t>
            </a:r>
            <a:r>
              <a:rPr sz="800" spc="-10" dirty="0">
                <a:latin typeface="Verdana"/>
                <a:cs typeface="Verdana"/>
              </a:rPr>
              <a:t>a</a:t>
            </a:r>
            <a:r>
              <a:rPr sz="800" spc="-30" dirty="0">
                <a:latin typeface="Verdana"/>
                <a:cs typeface="Verdana"/>
              </a:rPr>
              <a:t> </a:t>
            </a:r>
            <a:r>
              <a:rPr sz="800" dirty="0">
                <a:latin typeface="Verdana"/>
                <a:cs typeface="Verdana"/>
              </a:rPr>
              <a:t>chatbot</a:t>
            </a:r>
            <a:r>
              <a:rPr sz="800" spc="-30" dirty="0">
                <a:latin typeface="Verdana"/>
                <a:cs typeface="Verdana"/>
              </a:rPr>
              <a:t> </a:t>
            </a:r>
            <a:r>
              <a:rPr sz="800" spc="-20" dirty="0">
                <a:latin typeface="Verdana"/>
                <a:cs typeface="Verdana"/>
              </a:rPr>
              <a:t>with</a:t>
            </a:r>
            <a:endParaRPr sz="800">
              <a:latin typeface="Verdana"/>
              <a:cs typeface="Verdana"/>
            </a:endParaRPr>
          </a:p>
        </p:txBody>
      </p:sp>
      <p:sp>
        <p:nvSpPr>
          <p:cNvPr id="8" name="object 8"/>
          <p:cNvSpPr txBox="1"/>
          <p:nvPr/>
        </p:nvSpPr>
        <p:spPr>
          <a:xfrm>
            <a:off x="3695677" y="1486919"/>
            <a:ext cx="46990" cy="146050"/>
          </a:xfrm>
          <a:prstGeom prst="rect">
            <a:avLst/>
          </a:prstGeom>
        </p:spPr>
        <p:txBody>
          <a:bodyPr vert="horz" wrap="square" lIns="0" tIns="11430" rIns="0" bIns="0" rtlCol="0">
            <a:spAutoFit/>
          </a:bodyPr>
          <a:lstStyle/>
          <a:p>
            <a:pPr marL="12700">
              <a:lnSpc>
                <a:spcPct val="100000"/>
              </a:lnSpc>
              <a:spcBef>
                <a:spcPts val="90"/>
              </a:spcBef>
            </a:pPr>
            <a:r>
              <a:rPr sz="800" spc="-75" dirty="0">
                <a:latin typeface="Verdana"/>
                <a:cs typeface="Verdana"/>
              </a:rPr>
              <a:t>,</a:t>
            </a:r>
            <a:endParaRPr sz="800">
              <a:latin typeface="Verdana"/>
              <a:cs typeface="Verdana"/>
            </a:endParaRPr>
          </a:p>
        </p:txBody>
      </p:sp>
      <p:sp>
        <p:nvSpPr>
          <p:cNvPr id="9" name="object 9"/>
          <p:cNvSpPr txBox="1"/>
          <p:nvPr/>
        </p:nvSpPr>
        <p:spPr>
          <a:xfrm>
            <a:off x="3938755" y="1486919"/>
            <a:ext cx="428625" cy="146050"/>
          </a:xfrm>
          <a:prstGeom prst="rect">
            <a:avLst/>
          </a:prstGeom>
        </p:spPr>
        <p:txBody>
          <a:bodyPr vert="horz" wrap="square" lIns="0" tIns="11430" rIns="0" bIns="0" rtlCol="0">
            <a:spAutoFit/>
          </a:bodyPr>
          <a:lstStyle/>
          <a:p>
            <a:pPr marL="12700">
              <a:lnSpc>
                <a:spcPct val="100000"/>
              </a:lnSpc>
              <a:spcBef>
                <a:spcPts val="90"/>
              </a:spcBef>
              <a:tabLst>
                <a:tab pos="172085" algn="l"/>
              </a:tabLst>
            </a:pPr>
            <a:r>
              <a:rPr sz="800" spc="-50" dirty="0">
                <a:latin typeface="Verdana"/>
                <a:cs typeface="Verdana"/>
              </a:rPr>
              <a:t>,</a:t>
            </a:r>
            <a:r>
              <a:rPr sz="800" dirty="0">
                <a:latin typeface="Verdana"/>
                <a:cs typeface="Verdana"/>
              </a:rPr>
              <a:t>	</a:t>
            </a:r>
            <a:r>
              <a:rPr sz="800" spc="-130" dirty="0">
                <a:latin typeface="Verdana"/>
                <a:cs typeface="Verdana"/>
              </a:rPr>
              <a:t>,</a:t>
            </a:r>
            <a:r>
              <a:rPr sz="800" spc="-70" dirty="0">
                <a:latin typeface="Verdana"/>
                <a:cs typeface="Verdana"/>
              </a:rPr>
              <a:t> </a:t>
            </a:r>
            <a:r>
              <a:rPr sz="800" spc="-25" dirty="0">
                <a:latin typeface="Verdana"/>
                <a:cs typeface="Verdana"/>
              </a:rPr>
              <a:t>and</a:t>
            </a:r>
            <a:endParaRPr sz="800">
              <a:latin typeface="Verdana"/>
              <a:cs typeface="Verdana"/>
            </a:endParaRPr>
          </a:p>
        </p:txBody>
      </p:sp>
      <p:sp>
        <p:nvSpPr>
          <p:cNvPr id="10" name="object 10"/>
          <p:cNvSpPr/>
          <p:nvPr/>
        </p:nvSpPr>
        <p:spPr>
          <a:xfrm>
            <a:off x="2739734" y="1754873"/>
            <a:ext cx="281940" cy="99060"/>
          </a:xfrm>
          <a:custGeom>
            <a:avLst/>
            <a:gdLst/>
            <a:ahLst/>
            <a:cxnLst/>
            <a:rect l="l" t="t" r="r" b="b"/>
            <a:pathLst>
              <a:path w="281939" h="99060">
                <a:moveTo>
                  <a:pt x="11597" y="14276"/>
                </a:moveTo>
                <a:lnTo>
                  <a:pt x="0" y="14276"/>
                </a:lnTo>
                <a:lnTo>
                  <a:pt x="0" y="56625"/>
                </a:lnTo>
                <a:lnTo>
                  <a:pt x="21323" y="89367"/>
                </a:lnTo>
                <a:lnTo>
                  <a:pt x="40721" y="89367"/>
                </a:lnTo>
                <a:lnTo>
                  <a:pt x="48304" y="86560"/>
                </a:lnTo>
                <a:lnTo>
                  <a:pt x="53757" y="80915"/>
                </a:lnTo>
                <a:lnTo>
                  <a:pt x="55557" y="78559"/>
                </a:lnTo>
                <a:lnTo>
                  <a:pt x="24670" y="78559"/>
                </a:lnTo>
                <a:lnTo>
                  <a:pt x="19836" y="76773"/>
                </a:lnTo>
                <a:lnTo>
                  <a:pt x="13240" y="69591"/>
                </a:lnTo>
                <a:lnTo>
                  <a:pt x="11631" y="64086"/>
                </a:lnTo>
                <a:lnTo>
                  <a:pt x="11597" y="14276"/>
                </a:lnTo>
                <a:close/>
              </a:path>
              <a:path w="281939" h="99060">
                <a:moveTo>
                  <a:pt x="61950" y="14276"/>
                </a:moveTo>
                <a:lnTo>
                  <a:pt x="50554" y="14276"/>
                </a:lnTo>
                <a:lnTo>
                  <a:pt x="50520" y="64086"/>
                </a:lnTo>
                <a:lnTo>
                  <a:pt x="48899" y="69591"/>
                </a:lnTo>
                <a:lnTo>
                  <a:pt x="42303" y="76773"/>
                </a:lnTo>
                <a:lnTo>
                  <a:pt x="37444" y="78559"/>
                </a:lnTo>
                <a:lnTo>
                  <a:pt x="55557" y="78559"/>
                </a:lnTo>
                <a:lnTo>
                  <a:pt x="57343" y="76222"/>
                </a:lnTo>
                <a:lnTo>
                  <a:pt x="59903" y="70609"/>
                </a:lnTo>
                <a:lnTo>
                  <a:pt x="61436" y="64086"/>
                </a:lnTo>
                <a:lnTo>
                  <a:pt x="61950" y="56625"/>
                </a:lnTo>
                <a:lnTo>
                  <a:pt x="61950" y="14276"/>
                </a:lnTo>
                <a:close/>
              </a:path>
              <a:path w="281939" h="99060">
                <a:moveTo>
                  <a:pt x="91787" y="14276"/>
                </a:moveTo>
                <a:lnTo>
                  <a:pt x="80177" y="14276"/>
                </a:lnTo>
                <a:lnTo>
                  <a:pt x="80177" y="88760"/>
                </a:lnTo>
                <a:lnTo>
                  <a:pt x="91787" y="88760"/>
                </a:lnTo>
                <a:lnTo>
                  <a:pt x="91787" y="14276"/>
                </a:lnTo>
                <a:close/>
              </a:path>
              <a:path w="281939" h="99060">
                <a:moveTo>
                  <a:pt x="141280" y="0"/>
                </a:moveTo>
                <a:lnTo>
                  <a:pt x="130314" y="0"/>
                </a:lnTo>
                <a:lnTo>
                  <a:pt x="95704" y="98822"/>
                </a:lnTo>
                <a:lnTo>
                  <a:pt x="106646" y="98822"/>
                </a:lnTo>
                <a:lnTo>
                  <a:pt x="141280" y="0"/>
                </a:lnTo>
                <a:close/>
              </a:path>
              <a:path w="281939" h="99060">
                <a:moveTo>
                  <a:pt x="155164" y="14276"/>
                </a:moveTo>
                <a:lnTo>
                  <a:pt x="143566" y="14276"/>
                </a:lnTo>
                <a:lnTo>
                  <a:pt x="143566" y="56625"/>
                </a:lnTo>
                <a:lnTo>
                  <a:pt x="164890" y="89367"/>
                </a:lnTo>
                <a:lnTo>
                  <a:pt x="184285" y="89367"/>
                </a:lnTo>
                <a:lnTo>
                  <a:pt x="191871" y="86560"/>
                </a:lnTo>
                <a:lnTo>
                  <a:pt x="197324" y="80915"/>
                </a:lnTo>
                <a:lnTo>
                  <a:pt x="199124" y="78559"/>
                </a:lnTo>
                <a:lnTo>
                  <a:pt x="168225" y="78559"/>
                </a:lnTo>
                <a:lnTo>
                  <a:pt x="163403" y="76773"/>
                </a:lnTo>
                <a:lnTo>
                  <a:pt x="156807" y="69591"/>
                </a:lnTo>
                <a:lnTo>
                  <a:pt x="155198" y="64086"/>
                </a:lnTo>
                <a:lnTo>
                  <a:pt x="155164" y="14276"/>
                </a:lnTo>
                <a:close/>
              </a:path>
              <a:path w="281939" h="99060">
                <a:moveTo>
                  <a:pt x="205514" y="14276"/>
                </a:moveTo>
                <a:lnTo>
                  <a:pt x="194108" y="14276"/>
                </a:lnTo>
                <a:lnTo>
                  <a:pt x="194075" y="64086"/>
                </a:lnTo>
                <a:lnTo>
                  <a:pt x="192465" y="69591"/>
                </a:lnTo>
                <a:lnTo>
                  <a:pt x="185870" y="76773"/>
                </a:lnTo>
                <a:lnTo>
                  <a:pt x="181011" y="78559"/>
                </a:lnTo>
                <a:lnTo>
                  <a:pt x="199124" y="78559"/>
                </a:lnTo>
                <a:lnTo>
                  <a:pt x="200909" y="76222"/>
                </a:lnTo>
                <a:lnTo>
                  <a:pt x="203468" y="70609"/>
                </a:lnTo>
                <a:lnTo>
                  <a:pt x="205001" y="64086"/>
                </a:lnTo>
                <a:lnTo>
                  <a:pt x="205514" y="56625"/>
                </a:lnTo>
                <a:lnTo>
                  <a:pt x="205514" y="14276"/>
                </a:lnTo>
                <a:close/>
              </a:path>
              <a:path w="281939" h="99060">
                <a:moveTo>
                  <a:pt x="226374" y="14276"/>
                </a:moveTo>
                <a:lnTo>
                  <a:pt x="212658" y="14276"/>
                </a:lnTo>
                <a:lnTo>
                  <a:pt x="239197" y="50493"/>
                </a:lnTo>
                <a:lnTo>
                  <a:pt x="210967" y="88760"/>
                </a:lnTo>
                <a:lnTo>
                  <a:pt x="224671" y="88760"/>
                </a:lnTo>
                <a:lnTo>
                  <a:pt x="246211" y="59256"/>
                </a:lnTo>
                <a:lnTo>
                  <a:pt x="259946" y="59256"/>
                </a:lnTo>
                <a:lnTo>
                  <a:pt x="253352" y="50304"/>
                </a:lnTo>
                <a:lnTo>
                  <a:pt x="259764" y="41565"/>
                </a:lnTo>
                <a:lnTo>
                  <a:pt x="246531" y="41565"/>
                </a:lnTo>
                <a:lnTo>
                  <a:pt x="226374" y="14276"/>
                </a:lnTo>
                <a:close/>
              </a:path>
              <a:path w="281939" h="99060">
                <a:moveTo>
                  <a:pt x="259946" y="59256"/>
                </a:moveTo>
                <a:lnTo>
                  <a:pt x="246211" y="59256"/>
                </a:lnTo>
                <a:lnTo>
                  <a:pt x="267867" y="88760"/>
                </a:lnTo>
                <a:lnTo>
                  <a:pt x="281677" y="88760"/>
                </a:lnTo>
                <a:lnTo>
                  <a:pt x="259946" y="59256"/>
                </a:lnTo>
                <a:close/>
              </a:path>
              <a:path w="281939" h="99060">
                <a:moveTo>
                  <a:pt x="279785" y="14276"/>
                </a:moveTo>
                <a:lnTo>
                  <a:pt x="266568" y="14276"/>
                </a:lnTo>
                <a:lnTo>
                  <a:pt x="246531" y="41565"/>
                </a:lnTo>
                <a:lnTo>
                  <a:pt x="259764" y="41565"/>
                </a:lnTo>
                <a:lnTo>
                  <a:pt x="279785" y="14276"/>
                </a:lnTo>
                <a:close/>
              </a:path>
            </a:pathLst>
          </a:custGeom>
          <a:solidFill>
            <a:srgbClr val="000000"/>
          </a:solidFill>
        </p:spPr>
        <p:txBody>
          <a:bodyPr wrap="square" lIns="0" tIns="0" rIns="0" bIns="0" rtlCol="0"/>
          <a:lstStyle/>
          <a:p>
            <a:endParaRPr/>
          </a:p>
        </p:txBody>
      </p:sp>
      <p:sp>
        <p:nvSpPr>
          <p:cNvPr id="11" name="object 11"/>
          <p:cNvSpPr txBox="1"/>
          <p:nvPr/>
        </p:nvSpPr>
        <p:spPr>
          <a:xfrm>
            <a:off x="1384898" y="1608696"/>
            <a:ext cx="3075940" cy="511809"/>
          </a:xfrm>
          <a:prstGeom prst="rect">
            <a:avLst/>
          </a:prstGeom>
        </p:spPr>
        <p:txBody>
          <a:bodyPr vert="horz" wrap="square" lIns="0" tIns="11430" rIns="0" bIns="0" rtlCol="0">
            <a:spAutoFit/>
          </a:bodyPr>
          <a:lstStyle/>
          <a:p>
            <a:pPr marL="12065" marR="5080" indent="-635" algn="ctr">
              <a:lnSpc>
                <a:spcPct val="100000"/>
              </a:lnSpc>
              <a:spcBef>
                <a:spcPts val="90"/>
              </a:spcBef>
              <a:tabLst>
                <a:tab pos="1657985" algn="l"/>
              </a:tabLst>
            </a:pPr>
            <a:r>
              <a:rPr sz="800" dirty="0">
                <a:latin typeface="Verdana"/>
                <a:cs typeface="Verdana"/>
              </a:rPr>
              <a:t>OpenAI</a:t>
            </a:r>
            <a:r>
              <a:rPr sz="800" spc="-55" dirty="0">
                <a:latin typeface="Verdana"/>
                <a:cs typeface="Verdana"/>
              </a:rPr>
              <a:t> </a:t>
            </a:r>
            <a:r>
              <a:rPr sz="800" spc="-10" dirty="0">
                <a:latin typeface="Verdana"/>
                <a:cs typeface="Verdana"/>
              </a:rPr>
              <a:t>API</a:t>
            </a:r>
            <a:r>
              <a:rPr sz="800" spc="-50" dirty="0">
                <a:latin typeface="Verdana"/>
                <a:cs typeface="Verdana"/>
              </a:rPr>
              <a:t> </a:t>
            </a:r>
            <a:r>
              <a:rPr sz="800" dirty="0">
                <a:latin typeface="Verdana"/>
                <a:cs typeface="Verdana"/>
              </a:rPr>
              <a:t>integration</a:t>
            </a:r>
            <a:r>
              <a:rPr sz="800" spc="-55" dirty="0">
                <a:latin typeface="Verdana"/>
                <a:cs typeface="Verdana"/>
              </a:rPr>
              <a:t> </a:t>
            </a:r>
            <a:r>
              <a:rPr sz="800" dirty="0">
                <a:latin typeface="Verdana"/>
                <a:cs typeface="Verdana"/>
              </a:rPr>
              <a:t>can</a:t>
            </a:r>
            <a:r>
              <a:rPr sz="800" spc="-50" dirty="0">
                <a:latin typeface="Verdana"/>
                <a:cs typeface="Verdana"/>
              </a:rPr>
              <a:t> </a:t>
            </a:r>
            <a:r>
              <a:rPr sz="800" dirty="0">
                <a:latin typeface="Verdana"/>
                <a:cs typeface="Verdana"/>
              </a:rPr>
              <a:t>significantly</a:t>
            </a:r>
            <a:r>
              <a:rPr sz="800" spc="-50" dirty="0">
                <a:latin typeface="Verdana"/>
                <a:cs typeface="Verdana"/>
              </a:rPr>
              <a:t> </a:t>
            </a:r>
            <a:r>
              <a:rPr sz="800" dirty="0">
                <a:latin typeface="Verdana"/>
                <a:cs typeface="Verdana"/>
              </a:rPr>
              <a:t>enhance</a:t>
            </a:r>
            <a:r>
              <a:rPr sz="800" spc="-55" dirty="0">
                <a:latin typeface="Verdana"/>
                <a:cs typeface="Verdana"/>
              </a:rPr>
              <a:t> </a:t>
            </a:r>
            <a:r>
              <a:rPr sz="800" spc="-20" dirty="0">
                <a:latin typeface="Verdana"/>
                <a:cs typeface="Verdana"/>
              </a:rPr>
              <a:t>user experience.</a:t>
            </a:r>
            <a:r>
              <a:rPr sz="800" spc="-50" dirty="0">
                <a:latin typeface="Verdana"/>
                <a:cs typeface="Verdana"/>
              </a:rPr>
              <a:t> </a:t>
            </a:r>
            <a:r>
              <a:rPr sz="800" dirty="0">
                <a:latin typeface="Verdana"/>
                <a:cs typeface="Verdana"/>
              </a:rPr>
              <a:t>By</a:t>
            </a:r>
            <a:r>
              <a:rPr sz="800" spc="-45" dirty="0">
                <a:latin typeface="Verdana"/>
                <a:cs typeface="Verdana"/>
              </a:rPr>
              <a:t> </a:t>
            </a:r>
            <a:r>
              <a:rPr sz="800" spc="-10" dirty="0">
                <a:latin typeface="Verdana"/>
                <a:cs typeface="Verdana"/>
              </a:rPr>
              <a:t>prioritizing</a:t>
            </a:r>
            <a:r>
              <a:rPr lang="en-US" sz="800" spc="-10" dirty="0">
                <a:latin typeface="Verdana"/>
                <a:cs typeface="Verdana"/>
              </a:rPr>
              <a:t>         </a:t>
            </a:r>
            <a:r>
              <a:rPr sz="800" spc="-10" dirty="0">
                <a:latin typeface="Verdana"/>
                <a:cs typeface="Verdana"/>
              </a:rPr>
              <a:t>design, </a:t>
            </a:r>
            <a:r>
              <a:rPr sz="800" spc="-20" dirty="0">
                <a:latin typeface="Verdana"/>
                <a:cs typeface="Verdana"/>
              </a:rPr>
              <a:t>personalization,</a:t>
            </a:r>
            <a:r>
              <a:rPr sz="800" spc="5" dirty="0">
                <a:latin typeface="Verdana"/>
                <a:cs typeface="Verdana"/>
              </a:rPr>
              <a:t> </a:t>
            </a:r>
            <a:r>
              <a:rPr sz="800" spc="-25" dirty="0">
                <a:latin typeface="Verdana"/>
                <a:cs typeface="Verdana"/>
              </a:rPr>
              <a:t>and </a:t>
            </a:r>
            <a:r>
              <a:rPr sz="800" dirty="0">
                <a:latin typeface="Verdana"/>
                <a:cs typeface="Verdana"/>
              </a:rPr>
              <a:t>continuous</a:t>
            </a:r>
            <a:r>
              <a:rPr sz="800" spc="-25" dirty="0">
                <a:latin typeface="Verdana"/>
                <a:cs typeface="Verdana"/>
              </a:rPr>
              <a:t> </a:t>
            </a:r>
            <a:r>
              <a:rPr sz="800" spc="-10" dirty="0">
                <a:latin typeface="Verdana"/>
                <a:cs typeface="Verdana"/>
              </a:rPr>
              <a:t>improvement,</a:t>
            </a:r>
            <a:r>
              <a:rPr sz="800" spc="-20" dirty="0">
                <a:latin typeface="Verdana"/>
                <a:cs typeface="Verdana"/>
              </a:rPr>
              <a:t> </a:t>
            </a:r>
            <a:r>
              <a:rPr sz="800" dirty="0">
                <a:latin typeface="Verdana"/>
                <a:cs typeface="Verdana"/>
              </a:rPr>
              <a:t>we</a:t>
            </a:r>
            <a:r>
              <a:rPr sz="800" spc="-25" dirty="0">
                <a:latin typeface="Verdana"/>
                <a:cs typeface="Verdana"/>
              </a:rPr>
              <a:t> </a:t>
            </a:r>
            <a:r>
              <a:rPr sz="800" dirty="0">
                <a:latin typeface="Verdana"/>
                <a:cs typeface="Verdana"/>
              </a:rPr>
              <a:t>can</a:t>
            </a:r>
            <a:r>
              <a:rPr sz="800" spc="-20" dirty="0">
                <a:latin typeface="Verdana"/>
                <a:cs typeface="Verdana"/>
              </a:rPr>
              <a:t> </a:t>
            </a:r>
            <a:r>
              <a:rPr sz="800" spc="-10" dirty="0">
                <a:latin typeface="Verdana"/>
                <a:cs typeface="Verdana"/>
              </a:rPr>
              <a:t>create</a:t>
            </a:r>
            <a:r>
              <a:rPr sz="800" spc="-20" dirty="0">
                <a:latin typeface="Verdana"/>
                <a:cs typeface="Verdana"/>
              </a:rPr>
              <a:t> </a:t>
            </a:r>
            <a:r>
              <a:rPr sz="800" dirty="0">
                <a:latin typeface="Verdana"/>
                <a:cs typeface="Verdana"/>
              </a:rPr>
              <a:t>compelling</a:t>
            </a:r>
            <a:r>
              <a:rPr sz="800" spc="-25" dirty="0">
                <a:latin typeface="Verdana"/>
                <a:cs typeface="Verdana"/>
              </a:rPr>
              <a:t> and </a:t>
            </a:r>
            <a:r>
              <a:rPr sz="800" dirty="0">
                <a:latin typeface="Verdana"/>
                <a:cs typeface="Verdana"/>
              </a:rPr>
              <a:t>impactful chatbot</a:t>
            </a:r>
            <a:r>
              <a:rPr sz="800" spc="5" dirty="0">
                <a:latin typeface="Verdana"/>
                <a:cs typeface="Verdana"/>
              </a:rPr>
              <a:t> </a:t>
            </a:r>
            <a:r>
              <a:rPr sz="800" spc="-10" dirty="0">
                <a:latin typeface="Verdana"/>
                <a:cs typeface="Verdana"/>
              </a:rPr>
              <a:t>interactions.</a:t>
            </a:r>
            <a:endParaRPr sz="800" dirty="0">
              <a:latin typeface="Verdana"/>
              <a:cs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7540" y="1152191"/>
            <a:ext cx="2294890" cy="754380"/>
          </a:xfrm>
          <a:prstGeom prst="rect">
            <a:avLst/>
          </a:prstGeom>
        </p:spPr>
        <p:txBody>
          <a:bodyPr vert="horz" wrap="square" lIns="0" tIns="16510" rIns="0" bIns="0" rtlCol="0">
            <a:spAutoFit/>
          </a:bodyPr>
          <a:lstStyle/>
          <a:p>
            <a:pPr marL="12700">
              <a:lnSpc>
                <a:spcPct val="100000"/>
              </a:lnSpc>
              <a:spcBef>
                <a:spcPts val="130"/>
              </a:spcBef>
            </a:pPr>
            <a:r>
              <a:rPr sz="4750" spc="-10" dirty="0"/>
              <a:t>Thanks!</a:t>
            </a:r>
            <a:endParaRPr sz="47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TotalTime>
  <Words>596</Words>
  <Application>Microsoft Office PowerPoint</Application>
  <PresentationFormat>Custom</PresentationFormat>
  <Paragraphs>41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Cambria</vt:lpstr>
      <vt:lpstr>Times New Roman</vt:lpstr>
      <vt:lpstr>Trebuchet MS</vt:lpstr>
      <vt:lpstr>Verdana</vt:lpstr>
      <vt:lpstr>Office Theme</vt:lpstr>
      <vt:lpstr>PowerPoint Presentation</vt:lpstr>
      <vt:lpstr>Enhancing User Experience</vt:lpstr>
      <vt:lpstr>Understanding Chatbots</vt:lpstr>
      <vt:lpstr>PowerPoint Presentation</vt:lpstr>
      <vt:lpstr>The Power of HTML, CSS, and JS</vt:lpstr>
      <vt:lpstr>Integrating OpenAI API</vt:lpstr>
      <vt:lpstr>Designing the User Interface</vt:lpstr>
      <vt:lpstr>Ensuring Seamless Integration</vt:lpstr>
      <vt:lpstr>Enhancing User Engagement</vt:lpstr>
      <vt:lpstr>Leveraging Natural Language Processing</vt:lpstr>
      <vt:lpstr>Optimizing Performance and Speed</vt:lpstr>
      <vt:lpstr>Ensuring Data Privacy and Security</vt:lpstr>
      <vt:lpstr>Measuring User Satisfaction Measuring user satisfaction and feedback is crucial for refining and improving the chatbot experience. By gathering and analyzing user insights, we can continuously enhance the chatbot's performance and user satisfaction.</vt:lpstr>
      <vt:lpstr>Adapting to User Feedback</vt:lpstr>
      <vt:lpstr>Embracing Continuous Improvement</vt:lpstr>
      <vt:lpstr>Empowering Conversational AI</vt:lpstr>
      <vt:lpstr>PowerPoint Presentation</vt:lpstr>
      <vt:lpstr>Key Takeaways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916398626439</cp:lastModifiedBy>
  <cp:revision>2</cp:revision>
  <dcterms:created xsi:type="dcterms:W3CDTF">2023-12-14T06:53:58Z</dcterms:created>
  <dcterms:modified xsi:type="dcterms:W3CDTF">2024-12-26T06:42:48Z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2023-12-14T00:00:00Z</vt:filetime>
  </property>
  <property fmtid="{D5CDD505-2E9C-101B-9397-08002B2CF9AE}" pid="3" name="LastSaved">
    <vt:filetime>2023-12-14T00:00:00Z</vt:filetime>
  </property>
  <property fmtid="{D5CDD505-2E9C-101B-9397-08002B2CF9AE}" pid="4" name="Producer">
    <vt:lpwstr>GPL Ghostscript 10.02.0</vt:lpwstr>
  </property>
</Properties>
</file>